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4"/>
  </p:notesMasterIdLst>
  <p:sldIdLst>
    <p:sldId id="256" r:id="rId2"/>
    <p:sldId id="287" r:id="rId3"/>
    <p:sldId id="294" r:id="rId4"/>
    <p:sldId id="295" r:id="rId5"/>
    <p:sldId id="296" r:id="rId6"/>
    <p:sldId id="285" r:id="rId7"/>
    <p:sldId id="297" r:id="rId8"/>
    <p:sldId id="293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1" r:id="rId22"/>
    <p:sldId id="312" r:id="rId23"/>
    <p:sldId id="313" r:id="rId24"/>
    <p:sldId id="314" r:id="rId25"/>
    <p:sldId id="310" r:id="rId26"/>
    <p:sldId id="315" r:id="rId27"/>
    <p:sldId id="316" r:id="rId28"/>
    <p:sldId id="317" r:id="rId29"/>
    <p:sldId id="318" r:id="rId30"/>
    <p:sldId id="319" r:id="rId31"/>
    <p:sldId id="320" r:id="rId32"/>
    <p:sldId id="284" r:id="rId33"/>
  </p:sldIdLst>
  <p:sldSz cx="9144000" cy="5143500" type="screen16x9"/>
  <p:notesSz cx="7104063" cy="10234613"/>
  <p:embeddedFontLs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Helvetica Neue" panose="020B0604020202020204" charset="0"/>
      <p:regular r:id="rId39"/>
      <p:bold r:id="rId40"/>
      <p:italic r:id="rId41"/>
      <p:boldItalic r:id="rId42"/>
    </p:embeddedFont>
    <p:embeddedFont>
      <p:font typeface="Inter" panose="020B0604020202020204" charset="0"/>
      <p:regular r:id="rId43"/>
      <p:bold r:id="rId44"/>
      <p:italic r:id="rId45"/>
      <p:boldItalic r:id="rId46"/>
    </p:embeddedFont>
    <p:embeddedFont>
      <p:font typeface="Space Grotesk Medium" panose="020B0604020202020204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0F199DC6-F976-438A-993B-1847344293C1}">
          <p14:sldIdLst>
            <p14:sldId id="256"/>
            <p14:sldId id="287"/>
            <p14:sldId id="294"/>
            <p14:sldId id="295"/>
            <p14:sldId id="296"/>
            <p14:sldId id="285"/>
            <p14:sldId id="297"/>
            <p14:sldId id="293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1"/>
            <p14:sldId id="312"/>
            <p14:sldId id="313"/>
            <p14:sldId id="314"/>
            <p14:sldId id="310"/>
            <p14:sldId id="315"/>
            <p14:sldId id="316"/>
            <p14:sldId id="317"/>
            <p14:sldId id="318"/>
            <p14:sldId id="319"/>
            <p14:sldId id="320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F0C7AE-1334-419A-946F-E5E88168B178}">
  <a:tblStyle styleId="{ADF0C7AE-1334-419A-946F-E5E88168B1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f24edde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f24edde6d_0_0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971da88386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971da88386_0_206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971da88386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971da88386_0_213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If we sort parallel lists then we lose the link between the two lists. Notice how the scores are now all wrong?!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for Life">
  <p:cSld name="CUSTOM_7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-25150" y="-31000"/>
            <a:ext cx="9212700" cy="43221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326050" y="317100"/>
            <a:ext cx="7392600" cy="4998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title" idx="2"/>
          </p:nvPr>
        </p:nvSpPr>
        <p:spPr>
          <a:xfrm>
            <a:off x="326050" y="980100"/>
            <a:ext cx="68238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Font typeface="Inter"/>
              <a:buNone/>
              <a:defRPr sz="1800" i="0" u="none" strike="noStrike" cap="none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defRPr>
            </a:lvl1pPr>
            <a:lvl2pPr marL="0" marR="0" lvl="1" indent="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4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;p30">
            <a:extLst>
              <a:ext uri="{FF2B5EF4-FFF2-40B4-BE49-F238E27FC236}">
                <a16:creationId xmlns:a16="http://schemas.microsoft.com/office/drawing/2014/main" id="{E545681F-4692-99D2-28C9-77A21FC15D0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3075" y="-33675"/>
            <a:ext cx="9250150" cy="4326951"/>
          </a:xfrm>
          <a:prstGeom prst="rect">
            <a:avLst/>
          </a:prstGeom>
          <a:solidFill>
            <a:srgbClr val="E0004D"/>
          </a:solidFill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1654559" y="1681225"/>
            <a:ext cx="5853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"/>
              <a:buFont typeface="Space Grotesk Medium"/>
              <a:buNone/>
              <a:defRPr sz="3100" b="1" i="0" u="none" strike="noStrike" cap="none">
                <a:solidFill>
                  <a:srgbClr val="F3F3F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 1">
  <p:cSld name="CUSTOM_4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;p33">
            <a:extLst>
              <a:ext uri="{FF2B5EF4-FFF2-40B4-BE49-F238E27FC236}">
                <a16:creationId xmlns:a16="http://schemas.microsoft.com/office/drawing/2014/main" id="{8282B19F-3F12-34DE-A44F-1C507FAD9D37}"/>
              </a:ext>
            </a:extLst>
          </p:cNvPr>
          <p:cNvSpPr/>
          <p:nvPr userDrawn="1"/>
        </p:nvSpPr>
        <p:spPr>
          <a:xfrm>
            <a:off x="-25150" y="-31000"/>
            <a:ext cx="9212700" cy="432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654559" y="1681225"/>
            <a:ext cx="5853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"/>
              <a:buFont typeface="Space Grotesk Medium"/>
              <a:buNone/>
              <a:defRPr sz="2700" i="0" u="none" strike="noStrike" cap="none">
                <a:solidFill>
                  <a:srgbClr val="F3F3F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461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800">
                <a:latin typeface="Arial" panose="020B0604020202020204" pitchFamily="34" charset="0"/>
                <a:ea typeface="Inter" panose="020B0604020202020204" charset="0"/>
              </a:defRPr>
            </a:lvl1pPr>
            <a:lvl2pPr marL="914400" lvl="1" indent="-3302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0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0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000"/>
              </a:spcBef>
              <a:spcAft>
                <a:spcPts val="1000"/>
              </a:spcAft>
              <a:buSzPts val="1600"/>
              <a:buChar char="■"/>
              <a:defRPr/>
            </a:lvl9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36668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25150" y="-31000"/>
            <a:ext cx="9212700" cy="432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26059" y="317100"/>
            <a:ext cx="5853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B3B"/>
              </a:buClr>
              <a:buSzPts val="100"/>
              <a:buFont typeface="Space Grotesk Medium"/>
              <a:buNone/>
              <a:defRPr sz="2700" i="0" u="none" strike="noStrike" cap="none">
                <a:solidFill>
                  <a:srgbClr val="383B3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title" idx="2"/>
          </p:nvPr>
        </p:nvSpPr>
        <p:spPr>
          <a:xfrm>
            <a:off x="326050" y="980100"/>
            <a:ext cx="6823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-6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0"/>
              <a:buFont typeface="Inter"/>
              <a:buChar char="●"/>
              <a:defRPr sz="2000" i="0" u="none" strike="noStrike" cap="none">
                <a:solidFill>
                  <a:srgbClr val="62626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○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■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●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○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■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01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●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590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○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79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■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850" y="4509225"/>
            <a:ext cx="1136748" cy="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9725" y="1588950"/>
            <a:ext cx="62058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600"/>
              <a:buChar char="●"/>
              <a:defRPr sz="1600">
                <a:solidFill>
                  <a:srgbClr val="626262"/>
                </a:solidFill>
              </a:defRPr>
            </a:lvl1pPr>
            <a:lvl2pPr marL="914400" lvl="1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○"/>
              <a:defRPr sz="1600">
                <a:solidFill>
                  <a:srgbClr val="626262"/>
                </a:solidFill>
              </a:defRPr>
            </a:lvl2pPr>
            <a:lvl3pPr marL="1371600" lvl="2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■"/>
              <a:defRPr sz="1600">
                <a:solidFill>
                  <a:srgbClr val="626262"/>
                </a:solidFill>
              </a:defRPr>
            </a:lvl3pPr>
            <a:lvl4pPr marL="1828800" lvl="3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●"/>
              <a:defRPr sz="1600">
                <a:solidFill>
                  <a:srgbClr val="626262"/>
                </a:solidFill>
              </a:defRPr>
            </a:lvl4pPr>
            <a:lvl5pPr marL="2286000" lvl="4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○"/>
              <a:defRPr sz="1600">
                <a:solidFill>
                  <a:srgbClr val="626262"/>
                </a:solidFill>
              </a:defRPr>
            </a:lvl5pPr>
            <a:lvl6pPr marL="2743200" lvl="5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■"/>
              <a:defRPr sz="1600">
                <a:solidFill>
                  <a:srgbClr val="626262"/>
                </a:solidFill>
              </a:defRPr>
            </a:lvl6pPr>
            <a:lvl7pPr marL="3200400" lvl="6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●"/>
              <a:defRPr sz="1600">
                <a:solidFill>
                  <a:srgbClr val="626262"/>
                </a:solidFill>
              </a:defRPr>
            </a:lvl7pPr>
            <a:lvl8pPr marL="3657600" lvl="7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○"/>
              <a:defRPr sz="1600">
                <a:solidFill>
                  <a:srgbClr val="626262"/>
                </a:solidFill>
              </a:defRPr>
            </a:lvl8pPr>
            <a:lvl9pPr marL="4114800" lvl="8" indent="-3302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626262"/>
              </a:buClr>
              <a:buSzPts val="1600"/>
              <a:buChar char="■"/>
              <a:defRPr sz="1600">
                <a:solidFill>
                  <a:srgbClr val="626262"/>
                </a:solidFill>
              </a:defRPr>
            </a:lvl9pPr>
          </a:lstStyle>
          <a:p>
            <a:endParaRPr dirty="0"/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38E4E5E1-C788-7576-4CAD-E3E1EDB20DA3}"/>
              </a:ext>
            </a:extLst>
          </p:cNvPr>
          <p:cNvSpPr txBox="1"/>
          <p:nvPr userDrawn="1"/>
        </p:nvSpPr>
        <p:spPr>
          <a:xfrm>
            <a:off x="3193650" y="4544288"/>
            <a:ext cx="27567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rPr>
              <a:t>Original Copyright Ocado Group 2024</a:t>
            </a:r>
            <a:endParaRPr sz="500" b="0" i="0" u="none" strike="noStrike" cap="none" dirty="0">
              <a:solidFill>
                <a:srgbClr val="6262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;p29">
            <a:extLst>
              <a:ext uri="{FF2B5EF4-FFF2-40B4-BE49-F238E27FC236}">
                <a16:creationId xmlns:a16="http://schemas.microsoft.com/office/drawing/2014/main" id="{EBFD20FC-F8A5-8F9B-9411-BEC5CD8CA426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8233816" y="4291101"/>
            <a:ext cx="910172" cy="85240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3">
          <p15:clr>
            <a:srgbClr val="EA4335"/>
          </p15:clr>
        </p15:guide>
        <p15:guide id="2" orient="horz" pos="67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840350" y="1526250"/>
            <a:ext cx="7293600" cy="20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ta-IN" sz="3100" b="1" dirty="0">
                <a:solidFill>
                  <a:srgbClr val="FFFFFF"/>
                </a:solidFill>
                <a:latin typeface="Space Grotesk Medium" panose="020B0604020202020204" charset="0"/>
                <a:ea typeface="Space Grotesk"/>
                <a:cs typeface="Space Grotesk Medium" panose="020B0604020202020204" charset="0"/>
                <a:sym typeface="Space Grotesk"/>
              </a:rPr>
              <a:t>அமர்வு 10</a:t>
            </a:r>
          </a:p>
          <a:p>
            <a:pPr lvl="0" algn="ctr"/>
            <a:r>
              <a:rPr lang="ta-IN" sz="3100" b="1" dirty="0">
                <a:solidFill>
                  <a:srgbClr val="FFFFFF"/>
                </a:solidFill>
                <a:latin typeface="Space Grotesk Medium" panose="020B0604020202020204" charset="0"/>
                <a:ea typeface="Space Grotesk"/>
                <a:cs typeface="Space Grotesk Medium" panose="020B0604020202020204" charset="0"/>
                <a:sym typeface="Space Grotesk"/>
              </a:rPr>
              <a:t>1</a:t>
            </a:r>
            <a:r>
              <a:rPr lang="en-GB" sz="3100" b="1" dirty="0">
                <a:solidFill>
                  <a:srgbClr val="FFFFFF"/>
                </a:solidFill>
                <a:latin typeface="Space Grotesk Medium" panose="020B0604020202020204" charset="0"/>
                <a:ea typeface="Space Grotesk"/>
                <a:cs typeface="Space Grotesk Medium" panose="020B0604020202020204" charset="0"/>
                <a:sym typeface="Space Grotesk"/>
              </a:rPr>
              <a:t>D </a:t>
            </a:r>
            <a:r>
              <a:rPr lang="ta-IN" sz="3100" b="1" dirty="0">
                <a:solidFill>
                  <a:srgbClr val="FFFFFF"/>
                </a:solidFill>
                <a:latin typeface="Space Grotesk Medium" panose="020B0604020202020204" charset="0"/>
                <a:ea typeface="Space Grotesk"/>
                <a:cs typeface="Space Grotesk Medium" panose="020B0604020202020204" charset="0"/>
                <a:sym typeface="Space Grotesk"/>
              </a:rPr>
              <a:t>பட்டியல்கள்</a:t>
            </a: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பாடம் ஆரம்பிப்பவர்</a:t>
            </a:r>
            <a:endParaRPr dirty="0"/>
          </a:p>
        </p:txBody>
      </p:sp>
      <p:sp>
        <p:nvSpPr>
          <p:cNvPr id="265" name="Google Shape;265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009016" cy="27237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spcAft>
                <a:spcPts val="1000"/>
              </a:spcAft>
              <a:buNone/>
            </a:pPr>
            <a:r>
              <a:rPr lang="ta-IN" sz="1400" dirty="0"/>
              <a:t>இந்தக் குறியீட்டு வரிகளை மறுவரிசைப்படுத்துங்கள், இதனால் பயனர் தங்கள் பெயரை உள்ளிட்டு, அவர்களின் பெயரில் உள்ள </a:t>
            </a:r>
            <a:r>
              <a:rPr lang="en-GB" sz="1400" dirty="0"/>
              <a:t>e </a:t>
            </a:r>
            <a:r>
              <a:rPr lang="ta-IN" sz="1400" dirty="0"/>
              <a:t>களின் எண்ணிக்கையை வெளியிடச் சொல்லலாம்.</a:t>
            </a:r>
          </a:p>
          <a:p>
            <a:pPr marL="0" lvl="0" indent="0">
              <a:spcAft>
                <a:spcPts val="1000"/>
              </a:spcAft>
              <a:buNone/>
            </a:pPr>
            <a:endParaRPr lang="ta-IN" sz="1400" dirty="0"/>
          </a:p>
          <a:p>
            <a:pPr marL="0" lvl="0" indent="0">
              <a:spcAft>
                <a:spcPts val="1000"/>
              </a:spcAft>
              <a:buNone/>
            </a:pPr>
            <a:r>
              <a:rPr lang="ta-IN" sz="1400" dirty="0"/>
              <a:t>இன்டெண்டேஷன் பற்றி மறந்துவிடாதீர்கள்!</a:t>
            </a:r>
            <a:endParaRPr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41B584-FA25-0CC3-2FAF-1F2A71188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232" y="1152475"/>
            <a:ext cx="5039420" cy="22221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B866-3826-5B12-08EB-D28EF18F7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பாடம் ஆரம்பிப்பவர்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8878F-283F-BA39-E50D-B7A6F023E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00079"/>
          </a:xfrm>
        </p:spPr>
        <p:txBody>
          <a:bodyPr/>
          <a:lstStyle/>
          <a:p>
            <a:r>
              <a:rPr lang="ta-IN" sz="1400" dirty="0"/>
              <a:t>இது உங்களுக்குப் பிடிச்சதா?</a:t>
            </a:r>
            <a:endParaRPr lang="en-GB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CC1C06-2006-E9D6-E6C8-21A5FC024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07" y="886183"/>
            <a:ext cx="5040000" cy="1999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5BF931-5C7B-36A1-35B7-155C683CC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207" y="3140234"/>
            <a:ext cx="3093561" cy="55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9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12E2A-6349-20A8-8B98-A47C0DF50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sz="1800" b="1" dirty="0"/>
              <a:t>ஒரு சரத்தின் மேல் திரும்பத் திரும்பச் சொல்லுதல்</a:t>
            </a:r>
            <a:endParaRPr lang="en-GB" sz="1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6171A-7EE6-B125-5966-2DA3A3C03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86183"/>
            <a:ext cx="3248414" cy="3508623"/>
          </a:xfrm>
        </p:spPr>
        <p:txBody>
          <a:bodyPr/>
          <a:lstStyle/>
          <a:p>
            <a:r>
              <a:rPr lang="ta-IN" dirty="0">
                <a:latin typeface="Consolas" panose="020B0609020204030204" pitchFamily="49" charset="0"/>
              </a:rPr>
              <a:t>பெயர் என்பது ஒரு சர மாறி</a:t>
            </a:r>
          </a:p>
          <a:p>
            <a:r>
              <a:rPr lang="ta-IN" dirty="0">
                <a:latin typeface="Consolas" panose="020B0609020204030204" pitchFamily="49" charset="0"/>
              </a:rPr>
              <a:t>ஒரு சரம் என்பது எழுத்துக்களின் வரிசை</a:t>
            </a:r>
          </a:p>
          <a:p>
            <a:r>
              <a:rPr lang="ta-IN" dirty="0">
                <a:latin typeface="Consolas" panose="020B0609020204030204" pitchFamily="49" charset="0"/>
              </a:rPr>
              <a:t>சதுர அடைப்புக்குறிக்குள் ஒரு குறியீட்டைப் பயன்படுத்தி நீங்கள் தனிப்பட்ட எழுத்துக்களை அணுகலாம்.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F5ED5F-097E-48A7-7B8C-A6A7F9F74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07" y="886183"/>
            <a:ext cx="5040000" cy="1999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A3D0AA-5C45-A41D-6A99-70D194D68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207" y="3140234"/>
            <a:ext cx="3093561" cy="55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576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3DF5D4-6288-43A9-161F-61262FF2E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பட்டியல்கள்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86D7B-E97A-53A4-BE2C-2C55C65A6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677626"/>
          </a:xfrm>
        </p:spPr>
        <p:txBody>
          <a:bodyPr/>
          <a:lstStyle/>
          <a:p>
            <a:r>
              <a:rPr lang="ta-IN" dirty="0"/>
              <a:t>ஒரு சரம் என்பது எழுத்துகளின் வரிசை</a:t>
            </a:r>
          </a:p>
          <a:p>
            <a:r>
              <a:rPr lang="ta-IN" dirty="0"/>
              <a:t>ஒரு சரத்தில் உள்ள உறுப்பு ஒரு எழுத்து, </a:t>
            </a:r>
            <a:endParaRPr lang="en-IN" dirty="0"/>
          </a:p>
          <a:p>
            <a:pPr marL="127000" indent="0">
              <a:buNone/>
            </a:pPr>
            <a:r>
              <a:rPr lang="en-IN" dirty="0"/>
              <a:t>     </a:t>
            </a:r>
            <a:r>
              <a:rPr lang="ta-IN" dirty="0"/>
              <a:t>எ.கா. “</a:t>
            </a:r>
            <a:r>
              <a:rPr lang="en-GB" dirty="0"/>
              <a:t>F”</a:t>
            </a:r>
          </a:p>
          <a:p>
            <a:endParaRPr lang="en-GB" dirty="0"/>
          </a:p>
          <a:p>
            <a:r>
              <a:rPr lang="ta-IN" dirty="0"/>
              <a:t>ஒரு பட்டியல் என்பது பிற மாறிகளின் வரிசை</a:t>
            </a:r>
          </a:p>
          <a:p>
            <a:r>
              <a:rPr lang="ta-IN" dirty="0"/>
              <a:t>ஒரு பட்டியலின் உறுப்பு ஒரு சரம், முழு எண், மிதவை, பூலியன் அல்லது வேறு பட்டியலாக கூட இருக்கலாம்</a:t>
            </a:r>
            <a:endParaRPr lang="en-IN" dirty="0"/>
          </a:p>
          <a:p>
            <a:pPr marL="127000" indent="0">
              <a:buNone/>
            </a:pPr>
            <a:endParaRPr lang="ta-IN" dirty="0"/>
          </a:p>
          <a:p>
            <a:r>
              <a:rPr lang="ta-IN" dirty="0"/>
              <a:t>இங்கே சரங்களின் பட்டியல் உள்ளது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12FBA-9C83-EBE4-15F4-A2984409E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160" y="1371599"/>
            <a:ext cx="2038635" cy="714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8FAF8E-45CD-67DC-FA25-6A3B79937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895" y="3182049"/>
            <a:ext cx="2544900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4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8A31FC-7D29-9C59-4451-09A9A6FE9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செயல்பாடு 1: பட்டியலைத் திரும்பத் திரும்பச் சொல்லுதல்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6909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57B1-25E3-E0CB-F5C6-8BB38213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sz="1800" dirty="0"/>
              <a:t>பட்டியல்கள் - மறு செய்கை</a:t>
            </a:r>
            <a:endParaRPr lang="en-GB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29498-2E03-E4CD-23C0-01C616EE1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260300" cy="2123628"/>
          </a:xfrm>
        </p:spPr>
        <p:txBody>
          <a:bodyPr/>
          <a:lstStyle/>
          <a:p>
            <a:r>
              <a:rPr lang="ta-IN" dirty="0"/>
              <a:t>ஒரு சரத்தின் மீது மீண்டும் மீண்டும் எழுதுவது போலவே ஒரு பட்டியலின் மீதும் மீண்டும் மீண்டும் எழுதலாம்</a:t>
            </a:r>
          </a:p>
          <a:p>
            <a:endParaRPr lang="ta-IN" dirty="0"/>
          </a:p>
          <a:p>
            <a:r>
              <a:rPr lang="ta-IN" dirty="0"/>
              <a:t>இந்தக் குறியீட்டைத் தட்டச்சு செய்து இயக்கவும்.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11FAD-C5B0-DBED-C3E5-32F7D4ABA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554" y="1017725"/>
            <a:ext cx="3907746" cy="270678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B4A9BF3-8E20-E621-62CF-08D8383F0512}"/>
              </a:ext>
            </a:extLst>
          </p:cNvPr>
          <p:cNvGrpSpPr/>
          <p:nvPr/>
        </p:nvGrpSpPr>
        <p:grpSpPr>
          <a:xfrm>
            <a:off x="3100387" y="185113"/>
            <a:ext cx="2943225" cy="832612"/>
            <a:chOff x="5580825" y="117738"/>
            <a:chExt cx="2943225" cy="832612"/>
          </a:xfrm>
          <a:solidFill>
            <a:schemeClr val="accent1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53208D-3CFF-BB69-5493-EE1869D45E87}"/>
                </a:ext>
              </a:extLst>
            </p:cNvPr>
            <p:cNvSpPr/>
            <p:nvPr/>
          </p:nvSpPr>
          <p:spPr>
            <a:xfrm>
              <a:off x="5580825" y="117738"/>
              <a:ext cx="2943225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Create a list of strings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F04ECFB-2BA0-D9CA-B095-E5F723E070B9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7052438" y="498738"/>
              <a:ext cx="352554" cy="451612"/>
            </a:xfrm>
            <a:prstGeom prst="straightConnector1">
              <a:avLst/>
            </a:prstGeom>
            <a:grpFill/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6EEEB5B-2E0F-8A4E-E1F1-F7A2F73490EC}"/>
              </a:ext>
            </a:extLst>
          </p:cNvPr>
          <p:cNvGrpSpPr/>
          <p:nvPr/>
        </p:nvGrpSpPr>
        <p:grpSpPr>
          <a:xfrm>
            <a:off x="1805052" y="2168122"/>
            <a:ext cx="4386198" cy="1866785"/>
            <a:chOff x="9819450" y="-195022"/>
            <a:chExt cx="4386198" cy="1866785"/>
          </a:xfrm>
          <a:solidFill>
            <a:schemeClr val="accent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A790DA-D2A0-879A-3CC8-1F6D906976D1}"/>
                </a:ext>
              </a:extLst>
            </p:cNvPr>
            <p:cNvSpPr/>
            <p:nvPr/>
          </p:nvSpPr>
          <p:spPr>
            <a:xfrm>
              <a:off x="9819450" y="1290763"/>
              <a:ext cx="2943225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Access an individual element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8BA5D18-FB99-9514-62B0-EBB37F2941C8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V="1">
              <a:off x="11291063" y="-195022"/>
              <a:ext cx="2914585" cy="1485785"/>
            </a:xfrm>
            <a:prstGeom prst="straightConnector1">
              <a:avLst/>
            </a:prstGeom>
            <a:grpFill/>
            <a:ln w="381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Google Shape;120;p22">
            <a:extLst>
              <a:ext uri="{FF2B5EF4-FFF2-40B4-BE49-F238E27FC236}">
                <a16:creationId xmlns:a16="http://schemas.microsoft.com/office/drawing/2014/main" id="{6C22AF9D-4F7C-E863-9C06-81FCDCD8C1E6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003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A14AA-1CA9-4631-1EC8-5B1CF85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2AAE0-CE52-00DC-B1C0-BB336C4F2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7855555" cy="461635"/>
          </a:xfrm>
        </p:spPr>
        <p:txBody>
          <a:bodyPr/>
          <a:lstStyle/>
          <a:p>
            <a:r>
              <a:rPr lang="ta-IN" dirty="0"/>
              <a:t>பணித்தாளில் உள்ள பயிற்சிகளைச் செய்யுங்கள்.</a:t>
            </a:r>
            <a:endParaRPr lang="en-GB" dirty="0"/>
          </a:p>
        </p:txBody>
      </p:sp>
      <p:sp>
        <p:nvSpPr>
          <p:cNvPr id="10" name="Google Shape;120;p22">
            <a:extLst>
              <a:ext uri="{FF2B5EF4-FFF2-40B4-BE49-F238E27FC236}">
                <a16:creationId xmlns:a16="http://schemas.microsoft.com/office/drawing/2014/main" id="{340B92B5-0376-65B1-9DDF-03A0C90E0E1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045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D7A28-89A5-B319-0EBA-2BC17D8A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 1 - தீர்வு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4858C-9B3F-21D0-D07E-4F3B791C8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id="{EC8BDBF1-4A11-CD4A-A9D2-9387A6326049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5013A9-8953-91C0-9AA2-808A61B77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3470513"/>
            <a:ext cx="3850585" cy="6552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30C28A-FB9F-71AC-7668-CBEB80BED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17725"/>
            <a:ext cx="7626900" cy="229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D7A28-89A5-B319-0EBA-2BC17D8A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 2 - தீர்வு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4858C-9B3F-21D0-D07E-4F3B791C8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id="{EC8BDBF1-4A11-CD4A-A9D2-9387A6326049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1AFABE-5DE7-86A4-05F3-2C9E89B8D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52475"/>
            <a:ext cx="8520600" cy="21244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295B2C-674F-47C4-9D4F-9B161EF28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1" y="3411684"/>
            <a:ext cx="4984200" cy="51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490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8A31FC-7D29-9C59-4451-09A9A6FE9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செயல்பாடு 2 : பட்டியல் செயல்பாடுகள்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336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6A9925-9330-4268-82E1-EE5114B5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பட்டியல் செயல்பாடுகள்: சேர்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35C76-9B9D-09C6-8690-18A3A5C1B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.append() </a:t>
            </a:r>
            <a:r>
              <a:rPr lang="ta-IN" dirty="0"/>
              <a:t>ஐப் பயன்படுத்தி பட்டியலின் இறுதியில் சேர்க்கலாம்.</a:t>
            </a:r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1679095D-D7C0-64CC-B73D-69A60298C1C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5189E0-1BFA-BBDB-7F31-9BCCDDFB65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1969"/>
          <a:stretch/>
        </p:blipFill>
        <p:spPr>
          <a:xfrm>
            <a:off x="971548" y="1779637"/>
            <a:ext cx="4864391" cy="1344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0597AB-7ECC-7EBF-C235-6FF76A3311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8053"/>
          <a:stretch/>
        </p:blipFill>
        <p:spPr>
          <a:xfrm>
            <a:off x="971548" y="3258950"/>
            <a:ext cx="4813483" cy="41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7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6A9925-9330-4268-82E1-EE5114B5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பட்டியல் செயல்பாடுகள்: அகற்று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35C76-9B9D-09C6-8690-18A3A5C1B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.remove() </a:t>
            </a:r>
            <a:r>
              <a:rPr lang="ta-IN" dirty="0"/>
              <a:t>ஐப் பயன்படுத்தி ஒரு உறுப்பை நீக்கலாம்.</a:t>
            </a:r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1679095D-D7C0-64CC-B73D-69A60298C1C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959750-7AC6-2A7C-2C1A-0B7F706504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446" b="47125"/>
          <a:stretch/>
        </p:blipFill>
        <p:spPr>
          <a:xfrm>
            <a:off x="786371" y="2071537"/>
            <a:ext cx="4863600" cy="10756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8FBB95-FB15-46CF-78D5-303E54793C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816" b="39521"/>
          <a:stretch/>
        </p:blipFill>
        <p:spPr>
          <a:xfrm>
            <a:off x="786371" y="3242853"/>
            <a:ext cx="4863600" cy="2076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021F6C-71A9-FDBA-043D-033B12CED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71" y="1676452"/>
            <a:ext cx="4863600" cy="30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A14AA-1CA9-4631-1EC8-5B1CF85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2AAE0-CE52-00DC-B1C0-BB336C4F2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7855555" cy="738633"/>
          </a:xfrm>
        </p:spPr>
        <p:txBody>
          <a:bodyPr/>
          <a:lstStyle/>
          <a:p>
            <a:r>
              <a:rPr lang="ta-IN" dirty="0"/>
              <a:t>உங்கள் பணித்தாளில் உள்ள எடுத்துக்காட்டு பயிற்சிகளை முயற்சிக்கவும், பின்னர் பயிற்சி 1 ஐ செய்யவும்.</a:t>
            </a:r>
            <a:endParaRPr lang="en-GB" dirty="0"/>
          </a:p>
        </p:txBody>
      </p:sp>
      <p:sp>
        <p:nvSpPr>
          <p:cNvPr id="10" name="Google Shape;120;p22">
            <a:extLst>
              <a:ext uri="{FF2B5EF4-FFF2-40B4-BE49-F238E27FC236}">
                <a16:creationId xmlns:a16="http://schemas.microsoft.com/office/drawing/2014/main" id="{340B92B5-0376-65B1-9DDF-03A0C90E0E1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1449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6A9925-9330-4268-82E1-EE5114B5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 1 - தீர்வு</a:t>
            </a:r>
            <a:endParaRPr lang="en-GB" dirty="0"/>
          </a:p>
        </p:txBody>
      </p:sp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1679095D-D7C0-64CC-B73D-69A60298C1C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F8B914-EA8B-0541-88D7-76EE3F3DC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017725"/>
            <a:ext cx="6791324" cy="28758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23FC57-5480-1B59-1443-7527C2E6D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470" y="3127008"/>
            <a:ext cx="4309380" cy="76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53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6A9925-9330-4268-82E1-EE5114B5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 1 - தீர்வு</a:t>
            </a:r>
            <a:endParaRPr lang="en-GB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0CA0DC-EF73-072B-0AA0-93EE5B687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4793" y="966931"/>
            <a:ext cx="8520600" cy="1015632"/>
          </a:xfrm>
        </p:spPr>
        <p:txBody>
          <a:bodyPr/>
          <a:lstStyle/>
          <a:p>
            <a:r>
              <a:rPr lang="ta-IN" dirty="0"/>
              <a:t>பட்டியலில் இல்லாத ஒரு மதிப்பை நீக்க முயற்சித்தால், நிரல் செயலிழக்கும்.</a:t>
            </a:r>
          </a:p>
          <a:p>
            <a:r>
              <a:rPr lang="ta-IN" dirty="0"/>
              <a:t>இதை எவ்வாறு தவிர்ப்பது?</a:t>
            </a:r>
            <a:endParaRPr lang="en-GB" dirty="0"/>
          </a:p>
        </p:txBody>
      </p:sp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1679095D-D7C0-64CC-B73D-69A60298C1C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23FC57-5480-1B59-1443-7527C2E6D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15" y="1931769"/>
            <a:ext cx="4309380" cy="766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859F5E-A2FF-8EF6-C97B-919BB021F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15" y="2861925"/>
            <a:ext cx="4309380" cy="38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69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C880-0A97-7694-8FAD-AE97A6D6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பட்டியலிலிருந்து ஒரு உறுப்பை நீக்குதல்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38035-54C0-7226-CC94-2C586908F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677626"/>
          </a:xfrm>
        </p:spPr>
        <p:txBody>
          <a:bodyPr/>
          <a:lstStyle/>
          <a:p>
            <a:r>
              <a:rPr lang="ta-IN" dirty="0"/>
              <a:t>நாம் அதை நீக்க முயற்சிக்கும் முன், அந்த உறுப்பு பட்டியலில் உள்ளதா என்று சரிபார்க்க வேண்டும்</a:t>
            </a:r>
          </a:p>
          <a:p>
            <a:r>
              <a:rPr lang="ta-IN" dirty="0"/>
              <a:t>இதை எப்படி செய்வது?</a:t>
            </a:r>
          </a:p>
          <a:p>
            <a:r>
              <a:rPr lang="ta-IN" dirty="0"/>
              <a:t>பட்டியலை மீண்டும் மீண்டும் செய்து, அந்த உறுப்பு கிடைத்ததா என்பதை நினைவில் கொள்ள வேண்டும்.</a:t>
            </a:r>
          </a:p>
          <a:p>
            <a:r>
              <a:rPr lang="ta-IN" dirty="0"/>
              <a:t>ஒரு சரத்தில் ஏதாவது இருக்கிறதா என்று எப்படி சரிபார்ப்பது என்பதை மீண்டும் மீண்டும் சொல்லி பாடத்தைத் தொடங்கினோம்.</a:t>
            </a:r>
          </a:p>
          <a:p>
            <a:r>
              <a:rPr lang="ta-IN" dirty="0"/>
              <a:t>குறியீடு மிகவும் ஒத்திருக்கிறது.</a:t>
            </a:r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id="{4FFD41D6-673C-6EB8-D3F7-BBC97788D3BB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2045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C880-0A97-7694-8FAD-AE97A6D6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பட்டியலிலிருந்து ஒரு உறுப்பை நீக்குதல்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38035-54C0-7226-CC94-2C586908F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29364"/>
            <a:ext cx="8520600" cy="738633"/>
          </a:xfrm>
        </p:spPr>
        <p:txBody>
          <a:bodyPr/>
          <a:lstStyle/>
          <a:p>
            <a:pPr marL="127000" indent="0">
              <a:buNone/>
            </a:pPr>
            <a:r>
              <a:rPr lang="ta-IN" dirty="0"/>
              <a:t>நாம் பட்டியலை மீண்டும் மீண்டும் செய்து, உறுப்பைக் கண்டறிந்தால் நினைவில் கொள்ள வேண்டும்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97937-662E-747A-D351-4FE4E66DE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779637"/>
            <a:ext cx="6777644" cy="1885566"/>
          </a:xfrm>
          <a:prstGeom prst="rect">
            <a:avLst/>
          </a:prstGeom>
        </p:spPr>
      </p:pic>
      <p:sp>
        <p:nvSpPr>
          <p:cNvPr id="4" name="Google Shape;120;p22">
            <a:extLst>
              <a:ext uri="{FF2B5EF4-FFF2-40B4-BE49-F238E27FC236}">
                <a16:creationId xmlns:a16="http://schemas.microsoft.com/office/drawing/2014/main" id="{A38297E7-0236-52E7-4140-059CDBCCF366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2884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C880-0A97-7694-8FAD-AE97A6D6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பட்டியலிலிருந்து ஒரு உறுப்பை நீக்குதல்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38035-54C0-7226-CC94-2C586908F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61635"/>
          </a:xfrm>
        </p:spPr>
        <p:txBody>
          <a:bodyPr/>
          <a:lstStyle/>
          <a:p>
            <a:pPr marL="127000" indent="0">
              <a:buNone/>
            </a:pPr>
            <a:r>
              <a:rPr lang="ta-IN" dirty="0"/>
              <a:t>நாம் அதைக் கண்டுபிடித்தால், அதை பட்டியலிலிருந்து நீக்கலாம்.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BCA718-4966-911B-18E4-64DD60DBA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01" y="1644887"/>
            <a:ext cx="6778800" cy="2522687"/>
          </a:xfrm>
          <a:prstGeom prst="rect">
            <a:avLst/>
          </a:prstGeom>
        </p:spPr>
      </p:pic>
      <p:sp>
        <p:nvSpPr>
          <p:cNvPr id="4" name="Google Shape;120;p22">
            <a:extLst>
              <a:ext uri="{FF2B5EF4-FFF2-40B4-BE49-F238E27FC236}">
                <a16:creationId xmlns:a16="http://schemas.microsoft.com/office/drawing/2014/main" id="{9E317712-3AF1-9A60-5392-8CEB118DCDBC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7250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C880-0A97-7694-8FAD-AE97A6D6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பட்டியலிலிருந்து ஒரு உறுப்பை நீக்குதல்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38035-54C0-7226-CC94-2C586908F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2453802" cy="4616618"/>
          </a:xfrm>
        </p:spPr>
        <p:txBody>
          <a:bodyPr/>
          <a:lstStyle/>
          <a:p>
            <a:pPr marL="127000" indent="0">
              <a:buNone/>
            </a:pPr>
            <a:r>
              <a:rPr lang="ta-IN" dirty="0"/>
              <a:t>இல்லையெனில், நாங்கள் ஒரு பிழைச் செய்தியைக் கொடுக்கலாம்</a:t>
            </a:r>
          </a:p>
          <a:p>
            <a:pPr marL="127000" indent="0">
              <a:buNone/>
            </a:pPr>
            <a:endParaRPr lang="ta-IN" dirty="0"/>
          </a:p>
          <a:p>
            <a:pPr marL="127000" indent="0">
              <a:buNone/>
            </a:pPr>
            <a:r>
              <a:rPr lang="ta-IN" dirty="0"/>
              <a:t>இதை உங்கள் குறியீட்டில் சேர்த்து சோதிக்கவும்.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60EF9A-5B46-4540-F870-91721366C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502" y="1152475"/>
            <a:ext cx="6066798" cy="2990000"/>
          </a:xfrm>
          <a:prstGeom prst="rect">
            <a:avLst/>
          </a:prstGeom>
        </p:spPr>
      </p:pic>
      <p:sp>
        <p:nvSpPr>
          <p:cNvPr id="7" name="Google Shape;120;p22">
            <a:extLst>
              <a:ext uri="{FF2B5EF4-FFF2-40B4-BE49-F238E27FC236}">
                <a16:creationId xmlns:a16="http://schemas.microsoft.com/office/drawing/2014/main" id="{499460BD-1F92-50EB-EC93-ABFDF72D19E3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5175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3CEF-3F6D-1D7D-9CAA-FC2D587D6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8B191-3BF8-0019-29B6-1D7BCEBB1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738633"/>
          </a:xfrm>
        </p:spPr>
        <p:txBody>
          <a:bodyPr/>
          <a:lstStyle/>
          <a:p>
            <a:r>
              <a:rPr lang="ta-IN" dirty="0"/>
              <a:t>இப்போது செயல்பாடு 2 இல் மீதமுள்ள பயிற்சிகளைச் செய்யுங்கள்.</a:t>
            </a:r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id="{C498B304-1E9B-13C8-9F14-1CC67074CE49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2049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3CEF-3F6D-1D7D-9CAA-FC2D587D6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 2 - தீர்வு</a:t>
            </a:r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id="{C498B304-1E9B-13C8-9F14-1CC67074CE49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5B8AA8-661D-51B2-3273-2197C0EB4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068275"/>
            <a:ext cx="8267700" cy="28564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0509AC-9432-CF52-51B4-B26BC34A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525" y="860525"/>
            <a:ext cx="4000966" cy="157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586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E28A5-6ADC-4F52-F8F0-4A26D448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 </a:t>
            </a:r>
            <a:r>
              <a:rPr lang="en-IN" dirty="0"/>
              <a:t>3</a:t>
            </a:r>
            <a:r>
              <a:rPr lang="ta-IN" dirty="0"/>
              <a:t> - தீர்வு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51502-6006-F365-1B2B-CBA8F78B0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id="{B8319BD1-3AC7-5D37-5055-D7394FCEA99C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AF642-6BDF-FAA0-5ADE-EF752AF19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047133"/>
            <a:ext cx="6755692" cy="3134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4BA8F0-8C73-DD06-EA13-B885476D3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799" y="1944998"/>
            <a:ext cx="4148691" cy="170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73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E28A5-6ADC-4F52-F8F0-4A26D448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 </a:t>
            </a:r>
            <a:r>
              <a:rPr lang="en-IN" dirty="0"/>
              <a:t>3</a:t>
            </a:r>
            <a:r>
              <a:rPr lang="ta-IN" dirty="0"/>
              <a:t> - தீர்வு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51502-6006-F365-1B2B-CBA8F78B0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id="{B8319BD1-3AC7-5D37-5055-D7394FCEA99C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AF642-6BDF-FAA0-5ADE-EF752AF19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047133"/>
            <a:ext cx="6755692" cy="3134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F78BD0-91CC-16EA-6DC4-4174747ED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100" y="1408206"/>
            <a:ext cx="4147200" cy="219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58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F07E78-649F-401B-D68D-C9C04CA76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செயல்பாடு 3: இணையான பட்டியல்கள்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9955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149B52-4733-7C6A-E87C-D5057A6A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இணையான பட்டியல்கள்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47774-96ED-A6DE-DB8F-F1AA6EB4E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31690"/>
            <a:ext cx="8520600" cy="738633"/>
          </a:xfrm>
        </p:spPr>
        <p:txBody>
          <a:bodyPr/>
          <a:lstStyle/>
          <a:p>
            <a:r>
              <a:rPr lang="ta-IN" dirty="0"/>
              <a:t>ஜோடிகளாக, இந்த குறியீடு என்ன வெளியிடும் என்று கணிக்கவும்.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B8B5A2-487D-5A8F-8F81-F4D704C34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10" y="1665957"/>
            <a:ext cx="6519945" cy="1490995"/>
          </a:xfrm>
          <a:prstGeom prst="rect">
            <a:avLst/>
          </a:prstGeom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EDDBD000-54E3-B852-CE16-C9B0BFF0D63C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3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4306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149B52-4733-7C6A-E87C-D5057A6A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இணையான பட்டியல்கள்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47774-96ED-A6DE-DB8F-F1AA6EB4E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27324"/>
            <a:ext cx="8520600" cy="738633"/>
          </a:xfrm>
        </p:spPr>
        <p:txBody>
          <a:bodyPr/>
          <a:lstStyle/>
          <a:p>
            <a:r>
              <a:rPr lang="ta-IN" dirty="0"/>
              <a:t>இப்போது குறியீட்டை உள்ளிட்டு நீங்கள் சொல்வது சரியா என்று சரிபார்க்கவும்.</a:t>
            </a:r>
            <a:endParaRPr lang="en-GB" dirty="0"/>
          </a:p>
        </p:txBody>
      </p:sp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D57FA55D-F35E-2C98-D195-EC4DFF213FE8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3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8F864A-1426-EE50-696F-25ECE1208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10" y="1665957"/>
            <a:ext cx="6519945" cy="149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942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944F-9043-9032-C5A3-2CE53E69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இணையான பட்டியல்கள்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C280A-ABDF-C9D4-45D3-57068F796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954625"/>
          </a:xfrm>
        </p:spPr>
        <p:txBody>
          <a:bodyPr/>
          <a:lstStyle/>
          <a:p>
            <a:r>
              <a:rPr lang="ta-IN" dirty="0"/>
              <a:t>குறியீடுகளை வரிசையாக வைத்திருப்பதில் நாம் கவனமாக இருக்கும் வரை, இது பல மதிப்புகளைச் சேமிப்பதற்கான ஒரு பயனுள்ள வழியாகும்.</a:t>
            </a:r>
          </a:p>
          <a:p>
            <a:endParaRPr lang="ta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ta-IN" dirty="0"/>
              <a:t>பயிற்சியைச் செய்யுங்கள்</a:t>
            </a:r>
            <a:endParaRPr lang="en-GB" dirty="0"/>
          </a:p>
        </p:txBody>
      </p:sp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60832927-B8C8-012B-2FF4-51A13A45A40C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3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8757C3-E649-73A9-7A72-06F1DD91F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01" y="1884289"/>
            <a:ext cx="6519945" cy="149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58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944F-9043-9032-C5A3-2CE53E69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 1 - தீர்வு</a:t>
            </a:r>
            <a:endParaRPr lang="en-GB" dirty="0"/>
          </a:p>
        </p:txBody>
      </p:sp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60832927-B8C8-012B-2FF4-51A13A45A40C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3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4B2825-F2A9-51DE-3DCA-76B4F1A82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60" y="1152475"/>
            <a:ext cx="6675161" cy="1849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C70BC3-8B61-10CF-6B54-AE9B9DD88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60" y="3136525"/>
            <a:ext cx="2597767" cy="35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01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944F-9043-9032-C5A3-2CE53E69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 1 - தீர்வு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C280A-ABDF-C9D4-45D3-57068F796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92412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60832927-B8C8-012B-2FF4-51A13A45A40C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3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A77DFA-7330-2411-F013-805352613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52475"/>
            <a:ext cx="7372350" cy="25299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A120CA-5F7A-502D-2D9F-2705CCED3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850" y="2912028"/>
            <a:ext cx="3381304" cy="40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610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944F-9043-9032-C5A3-2CE53E69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 1 - தீர்வு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C280A-ABDF-C9D4-45D3-57068F796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92412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60832927-B8C8-012B-2FF4-51A13A45A40C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3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95C819-AAF0-922E-4244-FB20ECF7B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3479544"/>
            <a:ext cx="6184350" cy="246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27A9C-26CD-C87C-819A-01733D53D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52475"/>
            <a:ext cx="8696325" cy="211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828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/>
        </p:nvSpPr>
        <p:spPr>
          <a:xfrm>
            <a:off x="311700" y="2694710"/>
            <a:ext cx="5334027" cy="7943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53585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rgbClr val="53585F"/>
              </a:solidFill>
            </a:endParaRPr>
          </a:p>
        </p:txBody>
      </p:sp>
      <p:sp>
        <p:nvSpPr>
          <p:cNvPr id="271" name="Google Shape;27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நிறைவு விழா</a:t>
            </a:r>
            <a:endParaRPr dirty="0"/>
          </a:p>
        </p:txBody>
      </p:sp>
      <p:sp>
        <p:nvSpPr>
          <p:cNvPr id="272" name="Google Shape;272;p42"/>
          <p:cNvSpPr txBox="1">
            <a:spLocks noGrp="1"/>
          </p:cNvSpPr>
          <p:nvPr>
            <p:ph type="body" idx="1"/>
          </p:nvPr>
        </p:nvSpPr>
        <p:spPr>
          <a:xfrm>
            <a:off x="289932" y="1393524"/>
            <a:ext cx="8520600" cy="18466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buNone/>
            </a:pPr>
            <a:r>
              <a:rPr lang="ta-IN" dirty="0"/>
              <a:t>நாம் கற்றுக்கொண்டது:</a:t>
            </a:r>
          </a:p>
          <a:p>
            <a:pPr marL="0" lvl="0" indent="0">
              <a:buNone/>
            </a:pPr>
            <a:r>
              <a:rPr lang="ta-IN" dirty="0"/>
              <a:t>ஒரு பட்டியலில் உள்ள தனிப்பட்ட கூறுகளை அணுகுதல்</a:t>
            </a:r>
          </a:p>
          <a:p>
            <a:pPr marL="0" lvl="0" indent="0">
              <a:buNone/>
            </a:pPr>
            <a:r>
              <a:rPr lang="ta-IN" dirty="0"/>
              <a:t>ஒரு பட்டியலில் மீண்டும் மீண்டும் கூறுதல்</a:t>
            </a:r>
          </a:p>
          <a:p>
            <a:pPr marL="0" lvl="0" indent="0">
              <a:buNone/>
            </a:pPr>
            <a:r>
              <a:rPr lang="ta-IN" dirty="0"/>
              <a:t>ஒரு பட்டியலில் உள்ள கூறுகளைக் கண்டறிதல்</a:t>
            </a:r>
          </a:p>
          <a:p>
            <a:pPr marL="0" lvl="0" indent="0">
              <a:buNone/>
            </a:pPr>
            <a:endParaRPr lang="ta-IN" dirty="0"/>
          </a:p>
          <a:p>
            <a:pPr marL="0" lvl="0" indent="0">
              <a:buNone/>
            </a:pPr>
            <a:r>
              <a:rPr lang="ta-IN" dirty="0"/>
              <a:t>நாம் ஏன் இணையான பட்டியல்களை வரிசைப்படுத்தக்கூடாது?</a:t>
            </a:r>
            <a:endParaRPr dirty="0"/>
          </a:p>
        </p:txBody>
      </p:sp>
      <p:sp>
        <p:nvSpPr>
          <p:cNvPr id="275" name="Google Shape;275;p42"/>
          <p:cNvSpPr/>
          <p:nvPr/>
        </p:nvSpPr>
        <p:spPr>
          <a:xfrm rot="-909444">
            <a:off x="4930071" y="2456907"/>
            <a:ext cx="1252239" cy="725129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EXIT TICKET</a:t>
            </a:r>
            <a:endParaRPr sz="1700" b="1" i="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C4DEAD-0407-F54C-9654-7E3AA3937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697" y="142732"/>
            <a:ext cx="3568379" cy="15083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645068-9B3F-3A61-AE1F-D1157D6B6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848" y="2108419"/>
            <a:ext cx="2886327" cy="4633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Ocado New Branding">
      <a:dk1>
        <a:srgbClr val="000000"/>
      </a:dk1>
      <a:lt1>
        <a:srgbClr val="FFFFFF"/>
      </a:lt1>
      <a:dk2>
        <a:srgbClr val="626262"/>
      </a:dk2>
      <a:lt2>
        <a:srgbClr val="DCDEE0"/>
      </a:lt2>
      <a:accent1>
        <a:srgbClr val="D841C3"/>
      </a:accent1>
      <a:accent2>
        <a:srgbClr val="13237A"/>
      </a:accent2>
      <a:accent3>
        <a:srgbClr val="FFCE05"/>
      </a:accent3>
      <a:accent4>
        <a:srgbClr val="2633AB"/>
      </a:accent4>
      <a:accent5>
        <a:srgbClr val="F4D1DC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</TotalTime>
  <Words>506</Words>
  <Application>Microsoft Office PowerPoint</Application>
  <PresentationFormat>On-screen Show (16:9)</PresentationFormat>
  <Paragraphs>111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Inter</vt:lpstr>
      <vt:lpstr>Helvetica Neue</vt:lpstr>
      <vt:lpstr>Space Grotesk Medium</vt:lpstr>
      <vt:lpstr>Arial</vt:lpstr>
      <vt:lpstr>Consolas</vt:lpstr>
      <vt:lpstr>White</vt:lpstr>
      <vt:lpstr>PowerPoint Presentation</vt:lpstr>
      <vt:lpstr>பாடம் ஆரம்பிப்பவர்</vt:lpstr>
      <vt:lpstr>பாடம் ஆரம்பிப்பவர்</vt:lpstr>
      <vt:lpstr>ஒரு சரத்தின் மேல் திரும்பத் திரும்பச் சொல்லுதல்</vt:lpstr>
      <vt:lpstr>பட்டியல்கள்</vt:lpstr>
      <vt:lpstr>செயல்பாடு 1: பட்டியலைத் திரும்பத் திரும்பச் சொல்லுதல்</vt:lpstr>
      <vt:lpstr>பட்டியல்கள் - மறு செய்கை</vt:lpstr>
      <vt:lpstr>பயிற்சிகள்</vt:lpstr>
      <vt:lpstr>பயிற்சி 1 - தீர்வு</vt:lpstr>
      <vt:lpstr>பயிற்சி 2 - தீர்வு</vt:lpstr>
      <vt:lpstr>செயல்பாடு 2 : பட்டியல் செயல்பாடுகள்</vt:lpstr>
      <vt:lpstr>பட்டியல் செயல்பாடுகள்: சேர்</vt:lpstr>
      <vt:lpstr>பட்டியல் செயல்பாடுகள்: அகற்று</vt:lpstr>
      <vt:lpstr>பயிற்சிகள்</vt:lpstr>
      <vt:lpstr>பயிற்சி 1 - தீர்வு</vt:lpstr>
      <vt:lpstr>பயிற்சி 1 - தீர்வு</vt:lpstr>
      <vt:lpstr>பட்டியலிலிருந்து ஒரு உறுப்பை நீக்குதல்</vt:lpstr>
      <vt:lpstr>பட்டியலிலிருந்து ஒரு உறுப்பை நீக்குதல்</vt:lpstr>
      <vt:lpstr>பட்டியலிலிருந்து ஒரு உறுப்பை நீக்குதல்</vt:lpstr>
      <vt:lpstr>பட்டியலிலிருந்து ஒரு உறுப்பை நீக்குதல்</vt:lpstr>
      <vt:lpstr>பயிற்சிகள்</vt:lpstr>
      <vt:lpstr>பயிற்சி 2 - தீர்வு</vt:lpstr>
      <vt:lpstr>பயிற்சி 3 - தீர்வு</vt:lpstr>
      <vt:lpstr>பயிற்சி 3 - தீர்வு</vt:lpstr>
      <vt:lpstr>செயல்பாடு 3: இணையான பட்டியல்கள்</vt:lpstr>
      <vt:lpstr>இணையான பட்டியல்கள்</vt:lpstr>
      <vt:lpstr>இணையான பட்டியல்கள்</vt:lpstr>
      <vt:lpstr>இணையான பட்டியல்கள்</vt:lpstr>
      <vt:lpstr>பயிற்சி 1 - தீர்வு</vt:lpstr>
      <vt:lpstr>பயிற்சி 1 - தீர்வு</vt:lpstr>
      <vt:lpstr>பயிற்சி 1 - தீர்வு</vt:lpstr>
      <vt:lpstr>நிறைவு விழா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Rebecca D</dc:creator>
  <cp:lastModifiedBy>saranya p</cp:lastModifiedBy>
  <cp:revision>33</cp:revision>
  <cp:lastPrinted>2024-06-23T09:10:58Z</cp:lastPrinted>
  <dcterms:modified xsi:type="dcterms:W3CDTF">2025-06-24T06:43:10Z</dcterms:modified>
</cp:coreProperties>
</file>