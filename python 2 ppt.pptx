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9"/>
  </p:notesMasterIdLst>
  <p:sldIdLst>
    <p:sldId id="256" r:id="rId2"/>
    <p:sldId id="287" r:id="rId3"/>
    <p:sldId id="294" r:id="rId4"/>
    <p:sldId id="285" r:id="rId5"/>
    <p:sldId id="295" r:id="rId6"/>
    <p:sldId id="296" r:id="rId7"/>
    <p:sldId id="297" r:id="rId8"/>
    <p:sldId id="293" r:id="rId9"/>
    <p:sldId id="264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6" r:id="rId18"/>
    <p:sldId id="305" r:id="rId19"/>
    <p:sldId id="307" r:id="rId20"/>
    <p:sldId id="309" r:id="rId21"/>
    <p:sldId id="308" r:id="rId22"/>
    <p:sldId id="310" r:id="rId23"/>
    <p:sldId id="311" r:id="rId24"/>
    <p:sldId id="324" r:id="rId25"/>
    <p:sldId id="312" r:id="rId26"/>
    <p:sldId id="313" r:id="rId27"/>
    <p:sldId id="314" r:id="rId28"/>
    <p:sldId id="316" r:id="rId29"/>
    <p:sldId id="315" r:id="rId30"/>
    <p:sldId id="318" r:id="rId31"/>
    <p:sldId id="317" r:id="rId32"/>
    <p:sldId id="319" r:id="rId33"/>
    <p:sldId id="321" r:id="rId34"/>
    <p:sldId id="322" r:id="rId35"/>
    <p:sldId id="320" r:id="rId36"/>
    <p:sldId id="323" r:id="rId37"/>
    <p:sldId id="284" r:id="rId38"/>
  </p:sldIdLst>
  <p:sldSz cx="9144000" cy="5143500" type="screen16x9"/>
  <p:notesSz cx="7104063" cy="10234613"/>
  <p:embeddedFontLst>
    <p:embeddedFont>
      <p:font typeface="Helvetica Neue" charset="0"/>
      <p:regular r:id="rId40"/>
      <p:bold r:id="rId41"/>
      <p:italic r:id="rId42"/>
      <p:boldItalic r:id="rId43"/>
    </p:embeddedFont>
    <p:embeddedFont>
      <p:font typeface="Consolas" pitchFamily="49" charset="0"/>
      <p:regular r:id="rId44"/>
      <p:bold r:id="rId45"/>
      <p:italic r:id="rId46"/>
      <p:boldItalic r:id="rId47"/>
    </p:embeddedFont>
    <p:embeddedFont>
      <p:font typeface="Inter" charset="0"/>
      <p:regular r:id="rId48"/>
      <p:bold r:id="rId49"/>
      <p:italic r:id="rId50"/>
      <p:boldItalic r:id="rId51"/>
    </p:embeddedFont>
    <p:embeddedFont>
      <p:font typeface="Space Grotesk Medium" charset="0"/>
      <p:regular r:id="rId52"/>
      <p:bold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0F199DC6-F976-438A-993B-1847344293C1}">
          <p14:sldIdLst>
            <p14:sldId id="256"/>
            <p14:sldId id="287"/>
            <p14:sldId id="294"/>
            <p14:sldId id="285"/>
            <p14:sldId id="295"/>
            <p14:sldId id="296"/>
            <p14:sldId id="297"/>
            <p14:sldId id="293"/>
            <p14:sldId id="264"/>
            <p14:sldId id="298"/>
            <p14:sldId id="299"/>
            <p14:sldId id="300"/>
            <p14:sldId id="301"/>
            <p14:sldId id="302"/>
            <p14:sldId id="303"/>
            <p14:sldId id="304"/>
            <p14:sldId id="306"/>
            <p14:sldId id="305"/>
            <p14:sldId id="307"/>
            <p14:sldId id="309"/>
            <p14:sldId id="308"/>
            <p14:sldId id="310"/>
            <p14:sldId id="311"/>
            <p14:sldId id="324"/>
            <p14:sldId id="312"/>
            <p14:sldId id="313"/>
            <p14:sldId id="314"/>
            <p14:sldId id="316"/>
            <p14:sldId id="315"/>
            <p14:sldId id="318"/>
            <p14:sldId id="317"/>
            <p14:sldId id="319"/>
            <p14:sldId id="321"/>
            <p14:sldId id="322"/>
            <p14:sldId id="320"/>
            <p14:sldId id="323"/>
            <p14:sldId id="284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DF0C7AE-1334-419A-946F-E5E88168B178}">
  <a:tblStyle styleId="{ADF0C7AE-1334-419A-946F-E5E88168B1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3" d="100"/>
          <a:sy n="113" d="100"/>
        </p:scale>
        <p:origin x="-562" y="35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34739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f24edde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f24edde6d_0_0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971da88386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971da88386_0_206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71da8838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71da88386_0_65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71da8838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71da88386_0_65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10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971da8838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971da88386_0_65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734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We need one print statement for each letter in the name. We should use a loop because it uses fewer lines of code and will work for any number of letters entered. </a:t>
            </a:r>
          </a:p>
        </p:txBody>
      </p:sp>
    </p:spTree>
    <p:extLst>
      <p:ext uri="{BB962C8B-B14F-4D97-AF65-F5344CB8AC3E}">
        <p14:creationId xmlns:p14="http://schemas.microsoft.com/office/powerpoint/2010/main" val="2850353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should start at 0 and end with length - 1</a:t>
            </a:r>
          </a:p>
        </p:txBody>
      </p:sp>
    </p:spTree>
    <p:extLst>
      <p:ext uri="{BB962C8B-B14F-4D97-AF65-F5344CB8AC3E}">
        <p14:creationId xmlns:p14="http://schemas.microsoft.com/office/powerpoint/2010/main" val="675776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Note that the \ is a line continuation character to allow us to split up that long line</a:t>
            </a:r>
          </a:p>
        </p:txBody>
      </p:sp>
    </p:spTree>
    <p:extLst>
      <p:ext uri="{BB962C8B-B14F-4D97-AF65-F5344CB8AC3E}">
        <p14:creationId xmlns:p14="http://schemas.microsoft.com/office/powerpoint/2010/main" val="3307768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See the teaching notes for important details about common errors with this question. </a:t>
            </a:r>
          </a:p>
        </p:txBody>
      </p:sp>
    </p:spTree>
    <p:extLst>
      <p:ext uri="{BB962C8B-B14F-4D97-AF65-F5344CB8AC3E}">
        <p14:creationId xmlns:p14="http://schemas.microsoft.com/office/powerpoint/2010/main" val="4215359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71da88386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71da88386_0_213:notes"/>
          <p:cNvSpPr txBox="1">
            <a:spLocks noGrp="1"/>
          </p:cNvSpPr>
          <p:nvPr>
            <p:ph type="body" idx="1"/>
          </p:nvPr>
        </p:nvSpPr>
        <p:spPr>
          <a:xfrm>
            <a:off x="947209" y="4861441"/>
            <a:ext cx="5209646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Each time around the while index &lt; length loop, we want to start checking the vowels from index position 0 again so we must reset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v_index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to 0. 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for Life">
  <p:cSld name="CUSTOM_7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326050" y="317100"/>
            <a:ext cx="7392600" cy="4998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"/>
              <a:buFont typeface="Inter"/>
              <a:buNone/>
              <a:defRPr sz="1800" i="0" u="none" strike="noStrike" cap="none"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4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30">
            <a:extLst>
              <a:ext uri="{FF2B5EF4-FFF2-40B4-BE49-F238E27FC236}">
                <a16:creationId xmlns:a16="http://schemas.microsoft.com/office/drawing/2014/main" xmlns="" id="{56BD4FC3-88A4-EC55-E15F-87A4CEBD762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3075" y="-33675"/>
            <a:ext cx="9250150" cy="4326951"/>
          </a:xfrm>
          <a:prstGeom prst="rect">
            <a:avLst/>
          </a:prstGeom>
          <a:solidFill>
            <a:srgbClr val="E0004D"/>
          </a:solidFill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3100" b="1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2">
  <p:cSld name="CUSTOM_4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35">
            <a:extLst>
              <a:ext uri="{FF2B5EF4-FFF2-40B4-BE49-F238E27FC236}">
                <a16:creationId xmlns:a16="http://schemas.microsoft.com/office/drawing/2014/main" xmlns="" id="{DA537604-FDD8-3D3B-A3A7-A13C5DD6D3AE}"/>
              </a:ext>
            </a:extLst>
          </p:cNvPr>
          <p:cNvSpPr/>
          <p:nvPr userDrawn="1"/>
        </p:nvSpPr>
        <p:spPr>
          <a:xfrm>
            <a:off x="-25150" y="-31000"/>
            <a:ext cx="2878200" cy="432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61750" y="426100"/>
            <a:ext cx="2484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Space Grotesk Medium"/>
              <a:buNone/>
              <a:defRPr sz="1800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222175" y="587975"/>
            <a:ext cx="5531400" cy="4308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●"/>
              <a:defRPr>
                <a:solidFill>
                  <a:srgbClr val="626262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defRPr>
            </a:lvl1pPr>
            <a:lvl2pPr marL="914400" lvl="1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○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■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●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○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■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●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30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Inter"/>
              <a:buChar char="○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302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26262"/>
              </a:buClr>
              <a:buSzPts val="1600"/>
              <a:buFont typeface="Inter"/>
              <a:buChar char="■"/>
              <a:defRPr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 idx="2"/>
          </p:nvPr>
        </p:nvSpPr>
        <p:spPr>
          <a:xfrm>
            <a:off x="161750" y="1441850"/>
            <a:ext cx="2484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1600" i="0" u="none" strike="noStrike" cap="none">
                <a:solidFill>
                  <a:srgbClr val="F3F3F3"/>
                </a:solidFill>
              </a:defRPr>
            </a:lvl1pPr>
            <a:lvl2pPr marL="0" marR="0" lvl="1" indent="88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177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254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431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520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609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698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1600"/>
              <a:buFont typeface="Inter"/>
              <a:buNone/>
              <a:defRPr sz="1600" i="0" u="none" strike="noStrike" cap="none">
                <a:solidFill>
                  <a:srgbClr val="008ED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_4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5;p33">
            <a:extLst>
              <a:ext uri="{FF2B5EF4-FFF2-40B4-BE49-F238E27FC236}">
                <a16:creationId xmlns:a16="http://schemas.microsoft.com/office/drawing/2014/main" xmlns="" id="{C1988587-C9E6-6B03-1D10-FAB0F9BFF91F}"/>
              </a:ext>
            </a:extLst>
          </p:cNvPr>
          <p:cNvSpPr/>
          <p:nvPr userDrawn="1"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654559" y="1681225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F3F3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defRPr sz="1800">
                <a:latin typeface="Arial" panose="020B0604020202020204" pitchFamily="34" charset="0"/>
                <a:ea typeface="Inter" panose="020B0604020202020204" charset="0"/>
              </a:defRPr>
            </a:lvl1pPr>
            <a:lvl2pPr marL="914400" lvl="1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0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0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0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000"/>
              </a:spcBef>
              <a:spcAft>
                <a:spcPts val="1000"/>
              </a:spcAft>
              <a:buSzPts val="1600"/>
              <a:buChar char="■"/>
              <a:defRPr/>
            </a:lvl9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66683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25150" y="-31000"/>
            <a:ext cx="9212700" cy="4322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26059" y="317100"/>
            <a:ext cx="58533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B3B"/>
              </a:buClr>
              <a:buSzPts val="100"/>
              <a:buFont typeface="Space Grotesk Medium"/>
              <a:buNone/>
              <a:defRPr sz="2700" i="0" u="none" strike="noStrike" cap="none">
                <a:solidFill>
                  <a:srgbClr val="383B3B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0" marR="0" lvl="1" indent="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20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609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ED0"/>
              </a:buClr>
              <a:buSzPts val="300"/>
              <a:buFont typeface="Helvetica Neue"/>
              <a:buNone/>
              <a:defRPr sz="2900" b="0" i="0" u="none" strike="noStrike" cap="none">
                <a:solidFill>
                  <a:srgbClr val="008ED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title" idx="2"/>
          </p:nvPr>
        </p:nvSpPr>
        <p:spPr>
          <a:xfrm>
            <a:off x="326050" y="980100"/>
            <a:ext cx="68238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850" tIns="59850" rIns="59850" bIns="59850" anchor="t" anchorCtr="0">
            <a:noAutofit/>
          </a:bodyPr>
          <a:lstStyle>
            <a:lvl1pPr marL="0" marR="0" lvl="0" indent="-6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00"/>
              <a:buFont typeface="Inter"/>
              <a:buChar char="●"/>
              <a:defRPr sz="2000" i="0" u="none" strike="noStrike" cap="none">
                <a:solidFill>
                  <a:srgbClr val="62626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501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●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590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○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679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300"/>
              <a:buFont typeface="Helvetica Neue"/>
              <a:buChar char="■"/>
              <a:defRPr sz="2900" b="0" i="0" u="none" strike="noStrike" cap="none">
                <a:solidFill>
                  <a:srgbClr val="62626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dirty="0"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850" y="4509225"/>
            <a:ext cx="1136748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9725" y="1588950"/>
            <a:ext cx="62058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●"/>
              <a:defRPr sz="1600">
                <a:solidFill>
                  <a:srgbClr val="62626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Char char="○"/>
              <a:defRPr sz="1600">
                <a:solidFill>
                  <a:srgbClr val="62626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26262"/>
              </a:buClr>
              <a:buSzPts val="1600"/>
              <a:buChar char="■"/>
              <a:defRPr sz="1600">
                <a:solidFill>
                  <a:srgbClr val="626262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11;p1">
            <a:extLst>
              <a:ext uri="{FF2B5EF4-FFF2-40B4-BE49-F238E27FC236}">
                <a16:creationId xmlns:a16="http://schemas.microsoft.com/office/drawing/2014/main" xmlns="" id="{38E4E5E1-C788-7576-4CAD-E3E1EDB20DA3}"/>
              </a:ext>
            </a:extLst>
          </p:cNvPr>
          <p:cNvSpPr txBox="1"/>
          <p:nvPr userDrawn="1"/>
        </p:nvSpPr>
        <p:spPr>
          <a:xfrm>
            <a:off x="3193650" y="4544288"/>
            <a:ext cx="27567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rPr>
              <a:t>Original Copyright Ocado Group 2024</a:t>
            </a:r>
            <a:endParaRPr sz="500" b="0" i="0" u="none" strike="noStrike" cap="none" dirty="0">
              <a:solidFill>
                <a:srgbClr val="6262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;p29">
            <a:extLst>
              <a:ext uri="{FF2B5EF4-FFF2-40B4-BE49-F238E27FC236}">
                <a16:creationId xmlns:a16="http://schemas.microsoft.com/office/drawing/2014/main" xmlns="" id="{A2A7BD96-F114-76E6-9FE4-3BA4B373DA18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/>
          <a:stretch/>
        </p:blipFill>
        <p:spPr>
          <a:xfrm>
            <a:off x="8233816" y="4291101"/>
            <a:ext cx="910172" cy="85240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3302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53">
          <p15:clr>
            <a:srgbClr val="EA4335"/>
          </p15:clr>
        </p15:guide>
        <p15:guide id="2" orient="horz" pos="67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840350" y="1526250"/>
            <a:ext cx="72936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ta-IN" sz="1800" dirty="0">
                <a:solidFill>
                  <a:srgbClr val="FFFFFF"/>
                </a:solidFill>
                <a:latin typeface="Consolas" panose="020B0609020204030204" pitchFamily="49" charset="0"/>
                <a:ea typeface="Source Sans Pro"/>
                <a:cs typeface="Source Sans Pro"/>
                <a:sym typeface="Source Sans Pro"/>
              </a:rPr>
              <a:t>அமர்வு </a:t>
            </a:r>
            <a:r>
              <a:rPr lang="en-IN" sz="1800" dirty="0" smtClean="0">
                <a:solidFill>
                  <a:srgbClr val="FFFFFF"/>
                </a:solidFill>
                <a:latin typeface="Consolas" panose="020B0609020204030204" pitchFamily="49" charset="0"/>
                <a:ea typeface="Source Sans Pro"/>
                <a:cs typeface="Source Sans Pro"/>
                <a:sym typeface="Source Sans Pro"/>
              </a:rPr>
              <a:t> </a:t>
            </a:r>
            <a:r>
              <a:rPr lang="ta-IN" sz="1800" dirty="0" smtClean="0">
                <a:solidFill>
                  <a:srgbClr val="FFFFFF"/>
                </a:solidFill>
                <a:latin typeface="Consolas" panose="020B0609020204030204" pitchFamily="49" charset="0"/>
                <a:ea typeface="Source Sans Pro"/>
                <a:cs typeface="Source Sans Pro"/>
                <a:sym typeface="Source Sans Pro"/>
              </a:rPr>
              <a:t>9</a:t>
            </a:r>
            <a:endParaRPr lang="ta-IN" sz="1800" dirty="0">
              <a:solidFill>
                <a:srgbClr val="FFFFFF"/>
              </a:solidFill>
              <a:latin typeface="Consolas" panose="020B0609020204030204" pitchFamily="49" charset="0"/>
              <a:ea typeface="Source Sans Pro"/>
              <a:cs typeface="Source Sans Pro"/>
              <a:sym typeface="Source Sans Pro"/>
            </a:endParaRPr>
          </a:p>
          <a:p>
            <a:pPr lvl="0" algn="ctr"/>
            <a:r>
              <a:rPr lang="ta-IN" sz="1800" dirty="0">
                <a:solidFill>
                  <a:srgbClr val="FFFFFF"/>
                </a:solidFill>
                <a:latin typeface="Consolas" panose="020B0609020204030204" pitchFamily="49" charset="0"/>
                <a:ea typeface="Source Sans Pro"/>
                <a:cs typeface="Source Sans Pro"/>
                <a:sym typeface="Source Sans Pro"/>
              </a:rPr>
              <a:t>சர கையாளுதல்</a:t>
            </a:r>
            <a:endParaRPr sz="1800" dirty="0">
              <a:solidFill>
                <a:srgbClr val="FFFFFF"/>
              </a:solidFill>
              <a:latin typeface="Consolas" panose="020B0609020204030204" pitchFamily="49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பாடம் தொடங்குபவர்</a:t>
            </a:r>
            <a:endParaRPr dirty="0"/>
          </a:p>
        </p:txBody>
      </p:sp>
      <p:sp>
        <p:nvSpPr>
          <p:cNvPr id="265" name="Google Shape;26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768464" cy="1954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spcAft>
                <a:spcPts val="1000"/>
              </a:spcAft>
              <a:buNone/>
            </a:pPr>
            <a:r>
              <a:rPr lang="ta-IN" dirty="0"/>
              <a:t>இந்த மாறிகளில் எது சரங்கள்</a:t>
            </a:r>
            <a:r>
              <a:rPr lang="ta-IN" dirty="0" smtClean="0"/>
              <a:t>?</a:t>
            </a:r>
            <a:endParaRPr lang="en-IN" dirty="0" smtClean="0"/>
          </a:p>
          <a:p>
            <a:pPr marL="0" lvl="0" indent="0">
              <a:spcAft>
                <a:spcPts val="1000"/>
              </a:spcAft>
              <a:buNone/>
            </a:pPr>
            <a:endParaRPr lang="en-IN" dirty="0"/>
          </a:p>
          <a:p>
            <a:pPr marL="0" lvl="0" indent="0">
              <a:spcAft>
                <a:spcPts val="1000"/>
              </a:spcAft>
              <a:buNone/>
            </a:pPr>
            <a:r>
              <a:rPr lang="ta-IN" dirty="0" smtClean="0"/>
              <a:t> </a:t>
            </a:r>
            <a:r>
              <a:rPr lang="ta-IN" dirty="0"/>
              <a:t>உங்கள் பணித்தாளில் பதிலளிக்கவும்.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44CA159-D3EE-8392-22B8-75A2E24F7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164" y="1207425"/>
            <a:ext cx="4944165" cy="2181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80BFAE-80F9-0859-8A4C-B7634BA5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பாடம் தொடக்கம் - 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F5C1D8-BD37-B3C8-143E-4B52817BE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288346"/>
            <a:ext cx="8520600" cy="923299"/>
          </a:xfrm>
        </p:spPr>
        <p:txBody>
          <a:bodyPr/>
          <a:lstStyle/>
          <a:p>
            <a:r>
              <a:rPr lang="ta-IN" sz="1600" dirty="0"/>
              <a:t>ஒரு சரம் என்றால் என்ன? </a:t>
            </a:r>
            <a:endParaRPr lang="en-IN" sz="1600" dirty="0" smtClean="0"/>
          </a:p>
          <a:p>
            <a:r>
              <a:rPr lang="ta-IN" sz="1600" dirty="0" smtClean="0"/>
              <a:t>ஒரு </a:t>
            </a:r>
            <a:r>
              <a:rPr lang="ta-IN" sz="1600" dirty="0"/>
              <a:t>சரம் என்பது மேற்கோள்களால் பிரிக்கப்பட்ட எழுத்துக்களின் வரிசையைக் கொண்ட ஒரு தரவு வகையாகும்.</a:t>
            </a:r>
            <a:endParaRPr lang="en-GB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0E5A795-B133-11AB-603D-1E9FEB94B09C}"/>
              </a:ext>
            </a:extLst>
          </p:cNvPr>
          <p:cNvSpPr txBox="1"/>
          <p:nvPr/>
        </p:nvSpPr>
        <p:spPr>
          <a:xfrm>
            <a:off x="3225575" y="1312593"/>
            <a:ext cx="5321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  <a:endParaRPr lang="en-GB" sz="2600" dirty="0">
              <a:solidFill>
                <a:srgbClr val="92D05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E245C56-05BC-CC8C-7045-F534C0DCDDF3}"/>
              </a:ext>
            </a:extLst>
          </p:cNvPr>
          <p:cNvSpPr txBox="1"/>
          <p:nvPr/>
        </p:nvSpPr>
        <p:spPr>
          <a:xfrm>
            <a:off x="3220580" y="2293393"/>
            <a:ext cx="54654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GB" sz="260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EC9181B-B0A4-F64A-6ACC-1BAD1C44FEB4}"/>
              </a:ext>
            </a:extLst>
          </p:cNvPr>
          <p:cNvSpPr txBox="1"/>
          <p:nvPr/>
        </p:nvSpPr>
        <p:spPr>
          <a:xfrm>
            <a:off x="3225576" y="1639526"/>
            <a:ext cx="5321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  <a:endParaRPr lang="en-GB" sz="2600" dirty="0">
              <a:solidFill>
                <a:srgbClr val="92D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C97A5B1-F89E-C240-BDBD-38EE3D32A6FB}"/>
              </a:ext>
            </a:extLst>
          </p:cNvPr>
          <p:cNvSpPr txBox="1"/>
          <p:nvPr/>
        </p:nvSpPr>
        <p:spPr>
          <a:xfrm>
            <a:off x="3216177" y="1013441"/>
            <a:ext cx="5321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  <a:endParaRPr lang="en-GB" sz="2600" dirty="0">
              <a:solidFill>
                <a:srgbClr val="92D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ECDD26A-5543-7F05-D85B-138EA7A10266}"/>
              </a:ext>
            </a:extLst>
          </p:cNvPr>
          <p:cNvSpPr txBox="1"/>
          <p:nvPr/>
        </p:nvSpPr>
        <p:spPr>
          <a:xfrm>
            <a:off x="3216178" y="1994044"/>
            <a:ext cx="5321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  <a:endParaRPr lang="en-GB" sz="2600" dirty="0">
              <a:solidFill>
                <a:srgbClr val="92D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FCFBE4A-8E19-345A-D85A-CD9C896778FF}"/>
              </a:ext>
            </a:extLst>
          </p:cNvPr>
          <p:cNvSpPr txBox="1"/>
          <p:nvPr/>
        </p:nvSpPr>
        <p:spPr>
          <a:xfrm>
            <a:off x="3216179" y="2616240"/>
            <a:ext cx="5321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92D050"/>
                </a:solidFill>
                <a:sym typeface="Wingdings" panose="05000000000000000000" pitchFamily="2" charset="2"/>
              </a:rPr>
              <a:t></a:t>
            </a:r>
            <a:endParaRPr lang="en-GB" sz="2600" dirty="0">
              <a:solidFill>
                <a:srgbClr val="92D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B032BB08-001B-AA77-F470-83F49F80EA1A}"/>
              </a:ext>
            </a:extLst>
          </p:cNvPr>
          <p:cNvSpPr txBox="1"/>
          <p:nvPr/>
        </p:nvSpPr>
        <p:spPr>
          <a:xfrm>
            <a:off x="3257081" y="2915589"/>
            <a:ext cx="54654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GB" sz="2600" dirty="0">
              <a:solidFill>
                <a:srgbClr val="FF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FFCD492F-4A88-7812-3A0B-F581543EC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491" y="1111789"/>
            <a:ext cx="4944165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5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A98A31FC-7D29-9C59-4451-09A9A6FE9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1: சர செயல்பாடுகள்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90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A026B7AB-18B9-EBDE-D9B6-40BCC6E6C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சரம் செயல்பாடுகள்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80A8CAE-7BE8-E3F4-6B83-529AF8680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1292631"/>
          </a:xfrm>
        </p:spPr>
        <p:txBody>
          <a:bodyPr/>
          <a:lstStyle/>
          <a:p>
            <a:pPr marL="0" indent="0">
              <a:buNone/>
            </a:pPr>
            <a:r>
              <a:rPr lang="ta-IN" dirty="0"/>
              <a:t>ஒரு சரத்தின் நீளத்தைக் கண்டுபிடிக்கலாம். </a:t>
            </a:r>
            <a:r>
              <a:rPr lang="en-GB" dirty="0" smtClean="0"/>
              <a:t>: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A08CE0F5-95CC-C767-15DD-380DB3CF9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75" y="1712229"/>
            <a:ext cx="6439799" cy="990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8175A58B-4CB7-BC24-0380-21EF2DA08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75" y="2867378"/>
            <a:ext cx="4248743" cy="790685"/>
          </a:xfrm>
          <a:prstGeom prst="rect">
            <a:avLst/>
          </a:prstGeom>
        </p:spPr>
      </p:pic>
      <p:sp>
        <p:nvSpPr>
          <p:cNvPr id="2" name="Google Shape;115;p22">
            <a:extLst>
              <a:ext uri="{FF2B5EF4-FFF2-40B4-BE49-F238E27FC236}">
                <a16:creationId xmlns:a16="http://schemas.microsoft.com/office/drawing/2014/main" xmlns="" id="{7AF54ED9-7EC6-3A08-8B68-8B30636A252E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B9B8371-F285-0383-AF2D-81BE026CA057}"/>
              </a:ext>
            </a:extLst>
          </p:cNvPr>
          <p:cNvSpPr/>
          <p:nvPr/>
        </p:nvSpPr>
        <p:spPr>
          <a:xfrm>
            <a:off x="390075" y="2050951"/>
            <a:ext cx="2401616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306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07ACAC-6A04-E246-3866-809B598B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சரம் செயல்பாடுகள்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4E25FD-6191-82CE-10C5-2B4D3078B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836" y="964216"/>
            <a:ext cx="8520600" cy="738633"/>
          </a:xfrm>
        </p:spPr>
        <p:txBody>
          <a:bodyPr/>
          <a:lstStyle/>
          <a:p>
            <a:r>
              <a:rPr lang="ta-IN" dirty="0"/>
              <a:t>நீங்கள் ஒரு சரத்தின் பெரிய எழுத்து அல்லது சிறிய எழுத்து பதிப்பைப் பெறலாம்.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C6919E9-CD67-7A84-3600-864740AFA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61" y="1623880"/>
            <a:ext cx="5291839" cy="1595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8700C2B-5B16-07C7-6A5A-A0FB3C1C5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62" y="3325505"/>
            <a:ext cx="3748374" cy="872909"/>
          </a:xfrm>
          <a:prstGeom prst="rect">
            <a:avLst/>
          </a:prstGeom>
        </p:spPr>
      </p:pic>
      <p:sp>
        <p:nvSpPr>
          <p:cNvPr id="4" name="Google Shape;115;p22">
            <a:extLst>
              <a:ext uri="{FF2B5EF4-FFF2-40B4-BE49-F238E27FC236}">
                <a16:creationId xmlns:a16="http://schemas.microsoft.com/office/drawing/2014/main" xmlns="" id="{C0D58EF3-D250-EB6F-9907-E496DAD12053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C02C516-1865-11E9-3F70-13CF460E6FBA}"/>
              </a:ext>
            </a:extLst>
          </p:cNvPr>
          <p:cNvSpPr/>
          <p:nvPr/>
        </p:nvSpPr>
        <p:spPr>
          <a:xfrm>
            <a:off x="837761" y="1867389"/>
            <a:ext cx="2736712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CFA4983-C6FD-C967-AF28-EF725B47B4C8}"/>
              </a:ext>
            </a:extLst>
          </p:cNvPr>
          <p:cNvSpPr/>
          <p:nvPr/>
        </p:nvSpPr>
        <p:spPr>
          <a:xfrm>
            <a:off x="837761" y="2684807"/>
            <a:ext cx="2736712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55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12B90A-B09B-5EDE-3A83-808A3017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சரம் செயல்பாடுகள்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BCBC0E-A621-EE37-1AD6-1E93B9B1F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677626"/>
          </a:xfrm>
        </p:spPr>
        <p:txBody>
          <a:bodyPr/>
          <a:lstStyle/>
          <a:p>
            <a:pPr marL="127000" indent="0">
              <a:buNone/>
            </a:pPr>
            <a:r>
              <a:rPr lang="ta-IN" sz="1600" dirty="0"/>
              <a:t>இந்த செயல்பாடுகளின் தொடரியல் பற்றி நீங்கள் என்ன கவனிக்கிறீர்கள்?</a:t>
            </a:r>
          </a:p>
          <a:p>
            <a:r>
              <a:rPr lang="ta-IN" sz="1600" dirty="0"/>
              <a:t>அவை அனைத்திலும் இறுதியில் வட்ட அடைப்புக்குறிகள் உள்ளன</a:t>
            </a:r>
          </a:p>
          <a:p>
            <a:r>
              <a:rPr lang="en-GB" sz="1600" dirty="0" err="1"/>
              <a:t>len</a:t>
            </a:r>
            <a:r>
              <a:rPr lang="en-GB" sz="1600" dirty="0"/>
              <a:t>() </a:t>
            </a:r>
            <a:r>
              <a:rPr lang="ta-IN" sz="1600" dirty="0"/>
              <a:t>உடன், சரம் அடைப்புக்குறிக்குள் செல்கிறது</a:t>
            </a:r>
          </a:p>
          <a:p>
            <a:r>
              <a:rPr lang="ta-IN" sz="1600" dirty="0"/>
              <a:t>பெரிய</a:t>
            </a:r>
            <a:r>
              <a:rPr lang="en-IN" sz="1600" dirty="0" smtClean="0"/>
              <a:t>()</a:t>
            </a:r>
            <a:r>
              <a:rPr lang="en-GB" sz="1600" dirty="0" smtClean="0"/>
              <a:t> </a:t>
            </a:r>
            <a:r>
              <a:rPr lang="ta-IN" sz="1600" dirty="0"/>
              <a:t>மற்றும் </a:t>
            </a:r>
            <a:r>
              <a:rPr lang="ta-IN" sz="1600" dirty="0"/>
              <a:t>சிறிய</a:t>
            </a:r>
            <a:r>
              <a:rPr lang="en-IN" sz="1600" dirty="0"/>
              <a:t>() </a:t>
            </a:r>
            <a:r>
              <a:rPr lang="ta-IN" sz="1600" dirty="0" smtClean="0"/>
              <a:t>உடன்</a:t>
            </a:r>
            <a:r>
              <a:rPr lang="ta-IN" sz="1600" dirty="0"/>
              <a:t>, வடிவம் &lt;</a:t>
            </a:r>
            <a:r>
              <a:rPr lang="en-GB" sz="1600" dirty="0" smtClean="0"/>
              <a:t>variable&gt;</a:t>
            </a:r>
            <a:r>
              <a:rPr lang="ta-IN" sz="1600" dirty="0"/>
              <a:t>பெரிய</a:t>
            </a:r>
            <a:r>
              <a:rPr lang="en-IN" sz="1600" dirty="0"/>
              <a:t>() </a:t>
            </a:r>
            <a:r>
              <a:rPr lang="en-GB" sz="1600" dirty="0" smtClean="0"/>
              <a:t> </a:t>
            </a:r>
            <a:r>
              <a:rPr lang="ta-IN" sz="1600" dirty="0"/>
              <a:t>ஆகும்</a:t>
            </a:r>
          </a:p>
          <a:p>
            <a:pPr marL="127000" indent="0">
              <a:buNone/>
            </a:pPr>
            <a:endParaRPr lang="ta-IN" sz="1600" dirty="0"/>
          </a:p>
          <a:p>
            <a:pPr marL="127000" indent="0">
              <a:buNone/>
            </a:pPr>
            <a:r>
              <a:rPr lang="ta-IN" sz="1600" dirty="0"/>
              <a:t>ஏனென்றால் </a:t>
            </a:r>
            <a:r>
              <a:rPr lang="ta-IN" sz="1600" dirty="0"/>
              <a:t>பெரிய</a:t>
            </a:r>
            <a:r>
              <a:rPr lang="en-IN" sz="1600" dirty="0"/>
              <a:t>() </a:t>
            </a:r>
            <a:r>
              <a:rPr lang="en-GB" sz="1600" dirty="0" smtClean="0"/>
              <a:t> </a:t>
            </a:r>
            <a:r>
              <a:rPr lang="ta-IN" sz="1600" dirty="0"/>
              <a:t>மற்றும் </a:t>
            </a:r>
            <a:r>
              <a:rPr lang="ta-IN" sz="1600" dirty="0"/>
              <a:t>சிறிய</a:t>
            </a:r>
            <a:r>
              <a:rPr lang="en-IN" sz="1600" dirty="0"/>
              <a:t>() </a:t>
            </a:r>
            <a:r>
              <a:rPr lang="en-GB" sz="1600" dirty="0" smtClean="0"/>
              <a:t> </a:t>
            </a:r>
            <a:r>
              <a:rPr lang="ta-IN" sz="1600" dirty="0"/>
              <a:t>ஆகியவற்றை சரங்களுடன் மட்டுமே பயன்படுத்த முடியும், அதேசமயம் </a:t>
            </a:r>
            <a:r>
              <a:rPr lang="en-GB" sz="1600" dirty="0" err="1"/>
              <a:t>len</a:t>
            </a:r>
            <a:r>
              <a:rPr lang="en-GB" sz="1600" dirty="0"/>
              <a:t>() </a:t>
            </a:r>
            <a:r>
              <a:rPr lang="ta-IN" sz="1600" dirty="0"/>
              <a:t>ஐ வெவ்வேறு விஷயங்களுடன் பயன்படுத்த முடியும்</a:t>
            </a:r>
          </a:p>
          <a:p>
            <a:pPr marL="127000" indent="0">
              <a:buNone/>
            </a:pPr>
            <a:endParaRPr lang="ta-IN" sz="1600" dirty="0"/>
          </a:p>
          <a:p>
            <a:pPr marL="127000" indent="0">
              <a:buNone/>
            </a:pPr>
            <a:r>
              <a:rPr lang="ta-IN" sz="1600" dirty="0"/>
              <a:t>இதைப் பற்றி பின்னர் மேலும்</a:t>
            </a: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80DB42C-49FC-A9A3-FE90-522E0B45A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643" y="103888"/>
            <a:ext cx="3296110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8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8A14AA-1CA9-4631-1EC8-5B1CF85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B52AAE0-CE52-00DC-B1C0-BB336C4F2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7855555" cy="461635"/>
          </a:xfrm>
        </p:spPr>
        <p:txBody>
          <a:bodyPr/>
          <a:lstStyle/>
          <a:p>
            <a:r>
              <a:rPr lang="ta-IN" dirty="0"/>
              <a:t>பணித்தாளில் பயிற்சிகள் செய்யுங்கள்</a:t>
            </a:r>
            <a:endParaRPr lang="en-GB" dirty="0"/>
          </a:p>
        </p:txBody>
      </p:sp>
      <p:sp>
        <p:nvSpPr>
          <p:cNvPr id="10" name="Google Shape;120;p22">
            <a:extLst>
              <a:ext uri="{FF2B5EF4-FFF2-40B4-BE49-F238E27FC236}">
                <a16:creationId xmlns:a16="http://schemas.microsoft.com/office/drawing/2014/main" xmlns="" id="{340B92B5-0376-65B1-9DDF-03A0C90E0E1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04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செயல்பாடு 1 - பதில்கள்</a:t>
            </a:r>
            <a:endParaRPr dirty="0"/>
          </a:p>
        </p:txBody>
      </p:sp>
      <p:sp>
        <p:nvSpPr>
          <p:cNvPr id="2" name="Google Shape;120;p22">
            <a:extLst>
              <a:ext uri="{FF2B5EF4-FFF2-40B4-BE49-F238E27FC236}">
                <a16:creationId xmlns:a16="http://schemas.microsoft.com/office/drawing/2014/main" xmlns="" id="{AD145A1E-BCF3-BC2B-D8F8-917A8C82A8C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3E1CF41-314E-E0F4-560D-721463175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94" y="1225475"/>
            <a:ext cx="6173061" cy="1600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A9DF3CA-C4ED-8A8F-D1C2-60EA20393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94" y="3033648"/>
            <a:ext cx="2772162" cy="790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செயல்பாடு 1 - பதில்கள்</a:t>
            </a:r>
            <a:endParaRPr dirty="0"/>
          </a:p>
        </p:txBody>
      </p:sp>
      <p:sp>
        <p:nvSpPr>
          <p:cNvPr id="2" name="Google Shape;120;p22">
            <a:extLst>
              <a:ext uri="{FF2B5EF4-FFF2-40B4-BE49-F238E27FC236}">
                <a16:creationId xmlns:a16="http://schemas.microsoft.com/office/drawing/2014/main" xmlns="" id="{AD145A1E-BCF3-BC2B-D8F8-917A8C82A8C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229D0E9-BE61-7122-CE10-673699AC1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33388"/>
            <a:ext cx="4363059" cy="1238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28A111B-00C8-E777-57C5-C7EDD7572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571750"/>
            <a:ext cx="249589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59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செயல்பாடு 1 - பதில்கள்</a:t>
            </a:r>
            <a:endParaRPr dirty="0"/>
          </a:p>
        </p:txBody>
      </p:sp>
      <p:sp>
        <p:nvSpPr>
          <p:cNvPr id="2" name="Google Shape;120;p22">
            <a:extLst>
              <a:ext uri="{FF2B5EF4-FFF2-40B4-BE49-F238E27FC236}">
                <a16:creationId xmlns:a16="http://schemas.microsoft.com/office/drawing/2014/main" xmlns="" id="{AD145A1E-BCF3-BC2B-D8F8-917A8C82A8C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1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7629A7-4029-5DC4-7145-7D70982A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25475"/>
            <a:ext cx="7640116" cy="97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D8C342F-06B7-9E4C-1198-12351D99D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376336"/>
            <a:ext cx="4810796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5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A427A2C-77F5-8DF7-539A-A6BE5222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747" y="1667779"/>
            <a:ext cx="6480912" cy="756900"/>
          </a:xfrm>
        </p:spPr>
        <p:txBody>
          <a:bodyPr/>
          <a:lstStyle/>
          <a:p>
            <a:r>
              <a:rPr lang="ta-IN" dirty="0"/>
              <a:t>செயல்பாடு 2: சரம் வடிவமைப்பு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0883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D4FF249-4FFA-1521-CEF9-FFFBA9FE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smtClean="0"/>
              <a:t> </a:t>
            </a:r>
            <a:r>
              <a:rPr lang="ta-IN" dirty="0"/>
              <a:t>சரம் வடிவமைப்பு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B13FCCF-42D7-C581-0B72-F0F23F34B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53" y="1079048"/>
            <a:ext cx="8520600" cy="2616070"/>
          </a:xfrm>
        </p:spPr>
        <p:txBody>
          <a:bodyPr/>
          <a:lstStyle/>
          <a:p>
            <a:r>
              <a:rPr lang="ta-IN" sz="1600" dirty="0"/>
              <a:t>செய்திகளை அச்சிட கமா பிரிப்பான்களைப் பயன்படுத்தினோம்</a:t>
            </a:r>
          </a:p>
          <a:p>
            <a:r>
              <a:rPr lang="ta-IN" sz="1600" dirty="0"/>
              <a:t>எங்கள் செய்திகள் மிகவும் சிக்கலானதாக மாறும் வரை இது நன்றாக இருக்கும் </a:t>
            </a:r>
            <a:r>
              <a:rPr lang="en-GB" sz="1600" dirty="0" smtClean="0"/>
              <a:t>:</a:t>
            </a:r>
            <a:endParaRPr lang="en-GB" sz="1600" dirty="0"/>
          </a:p>
          <a:p>
            <a:endParaRPr lang="en-GB" dirty="0"/>
          </a:p>
          <a:p>
            <a:endParaRPr lang="en-GB" dirty="0"/>
          </a:p>
          <a:p>
            <a:endParaRPr lang="en-GB" sz="2000" dirty="0"/>
          </a:p>
          <a:p>
            <a:endParaRPr lang="en-GB" dirty="0"/>
          </a:p>
          <a:p>
            <a:endParaRPr lang="en-GB" dirty="0"/>
          </a:p>
          <a:p>
            <a:r>
              <a:rPr lang="ta-IN" sz="1600" dirty="0"/>
              <a:t>இதை அச்சிடுவதற்கான சிறந்த வழி உள்ளது</a:t>
            </a:r>
            <a:endParaRPr lang="en-GB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0CFCC83-E3A7-3059-1537-7EFDAD2E5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2" y="1947775"/>
            <a:ext cx="6677957" cy="1247949"/>
          </a:xfrm>
          <a:prstGeom prst="rect">
            <a:avLst/>
          </a:prstGeom>
        </p:spPr>
      </p:pic>
      <p:sp>
        <p:nvSpPr>
          <p:cNvPr id="2" name="Google Shape;115;p22">
            <a:extLst>
              <a:ext uri="{FF2B5EF4-FFF2-40B4-BE49-F238E27FC236}">
                <a16:creationId xmlns:a16="http://schemas.microsoft.com/office/drawing/2014/main" xmlns="" id="{A8F6BEE6-13B6-32E4-2FCF-966798EB4817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60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8BD881-B6FF-7AB3-9792-7111BB98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 சரம் வடிவமைப்பு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55CD99-9107-4746-09A0-CAC104DC6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</p:spPr>
        <p:txBody>
          <a:bodyPr/>
          <a:lstStyle/>
          <a:p>
            <a:r>
              <a:rPr lang="ta-IN" dirty="0"/>
              <a:t>ஒரு சரத்தை வடிவமைக்க பைதான் </a:t>
            </a:r>
            <a:r>
              <a:rPr lang="en-IN" dirty="0"/>
              <a:t>f</a:t>
            </a:r>
            <a:r>
              <a:rPr lang="ta-IN" dirty="0" smtClean="0"/>
              <a:t>-சரம் </a:t>
            </a:r>
            <a:r>
              <a:rPr lang="ta-IN" dirty="0"/>
              <a:t>பயன்படுத்தலாம்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CE6AE44-E277-47F8-2144-BB25E8B29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76" y="1604011"/>
            <a:ext cx="6868484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AED485A-A6CA-75CC-AE8C-D156311BC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76" y="2909810"/>
            <a:ext cx="3177933" cy="1269897"/>
          </a:xfrm>
          <a:prstGeom prst="rect">
            <a:avLst/>
          </a:prstGeom>
        </p:spPr>
      </p:pic>
      <p:sp>
        <p:nvSpPr>
          <p:cNvPr id="4" name="Google Shape;115;p22">
            <a:extLst>
              <a:ext uri="{FF2B5EF4-FFF2-40B4-BE49-F238E27FC236}">
                <a16:creationId xmlns:a16="http://schemas.microsoft.com/office/drawing/2014/main" xmlns="" id="{CD8FD44E-11D2-094D-7D41-94749A798972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E2CACD3-87C5-3943-88E2-7FC259BA0E8A}"/>
              </a:ext>
            </a:extLst>
          </p:cNvPr>
          <p:cNvSpPr/>
          <p:nvPr/>
        </p:nvSpPr>
        <p:spPr>
          <a:xfrm>
            <a:off x="888376" y="2578677"/>
            <a:ext cx="6868484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049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8BD881-B6FF-7AB3-9792-7111BB98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 சரம் வடிவமைப்பு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55CD99-9107-4746-09A0-CAC104DC6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400627"/>
          </a:xfrm>
        </p:spPr>
        <p:txBody>
          <a:bodyPr/>
          <a:lstStyle/>
          <a:p>
            <a:r>
              <a:rPr lang="ta-IN" dirty="0"/>
              <a:t>நீங்கள் வெளிப்பாடுகளைச் சேர்க்கலாம்</a:t>
            </a:r>
          </a:p>
          <a:p>
            <a:endParaRPr lang="ta-IN" dirty="0"/>
          </a:p>
          <a:p>
            <a:endParaRPr lang="ta-IN" dirty="0"/>
          </a:p>
          <a:p>
            <a:endParaRPr lang="ta-IN" dirty="0"/>
          </a:p>
          <a:p>
            <a:r>
              <a:rPr lang="ta-IN" dirty="0"/>
              <a:t>மற்றும் செயல்பாட்டு அழைப்புகள்</a:t>
            </a:r>
          </a:p>
          <a:p>
            <a:endParaRPr lang="ta-IN" dirty="0"/>
          </a:p>
          <a:p>
            <a:endParaRPr lang="ta-IN" dirty="0"/>
          </a:p>
          <a:p>
            <a:r>
              <a:rPr lang="ta-IN" dirty="0"/>
              <a:t>பயிற்சிகள் செய்யுங்கள்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9916C3E-9A9E-1D68-22E5-B182798FF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20" y="1676371"/>
            <a:ext cx="5744377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45FDD31-03BB-B955-EC2D-34D2E08BE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4" y="2714550"/>
            <a:ext cx="7068536" cy="333422"/>
          </a:xfrm>
          <a:prstGeom prst="rect">
            <a:avLst/>
          </a:prstGeom>
        </p:spPr>
      </p:pic>
      <p:sp>
        <p:nvSpPr>
          <p:cNvPr id="8" name="Google Shape;120;p22">
            <a:extLst>
              <a:ext uri="{FF2B5EF4-FFF2-40B4-BE49-F238E27FC236}">
                <a16:creationId xmlns:a16="http://schemas.microsoft.com/office/drawing/2014/main" xmlns="" id="{EE5F574B-F5E3-B33B-A24C-7A304E54D41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89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CB473C-21CC-CC92-7CB3-96EBDE66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 smtClean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D39DFC-EF9B-EFF9-4D5D-484B0ECC1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a-IN" dirty="0"/>
              <a:t>தேவைப்பட்டால் உங்கள் வேலையை சரிசெய்யவும்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8B5A1E8-FD69-066C-42C1-6649D21F5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25" y="1742811"/>
            <a:ext cx="8240275" cy="2248214"/>
          </a:xfrm>
          <a:prstGeom prst="rect">
            <a:avLst/>
          </a:prstGeom>
        </p:spPr>
      </p:pic>
      <p:sp>
        <p:nvSpPr>
          <p:cNvPr id="6" name="Google Shape;120;p22">
            <a:extLst>
              <a:ext uri="{FF2B5EF4-FFF2-40B4-BE49-F238E27FC236}">
                <a16:creationId xmlns:a16="http://schemas.microsoft.com/office/drawing/2014/main" xmlns="" id="{44173CA8-B981-0D5C-9885-5435FDDA4A0E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2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0769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214D8F7E-0D02-0006-7032-E826CECF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94" y="1695079"/>
            <a:ext cx="8068235" cy="756900"/>
          </a:xfrm>
        </p:spPr>
        <p:txBody>
          <a:bodyPr/>
          <a:lstStyle/>
          <a:p>
            <a:r>
              <a:rPr lang="ta-IN" dirty="0"/>
              <a:t>செயல்பாடு 3: எழுத்துக்களின் வரிசைகள்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9400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89FFC8-0573-0CBA-AE8A-BD16E8E9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சரங்கள்: எழுத்துக்களின் வரிசைகள்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B83CC6-95C6-426E-A530-3343BD169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603700" cy="2400627"/>
          </a:xfrm>
        </p:spPr>
        <p:txBody>
          <a:bodyPr/>
          <a:lstStyle/>
          <a:p>
            <a:r>
              <a:rPr lang="ta-IN" sz="1600" dirty="0"/>
              <a:t>இங்கே ஒரு சரம் வகை மாறி உள்ளது </a:t>
            </a:r>
          </a:p>
          <a:p>
            <a:endParaRPr lang="ta-IN" sz="1600" dirty="0"/>
          </a:p>
          <a:p>
            <a:pPr marL="127000" indent="0">
              <a:buNone/>
            </a:pPr>
            <a:r>
              <a:rPr lang="ta-IN" sz="1600" dirty="0"/>
              <a:t>	</a:t>
            </a:r>
          </a:p>
          <a:p>
            <a:r>
              <a:rPr lang="ta-IN" sz="1600" dirty="0"/>
              <a:t>ஒரு சரம் ஒரு பழமையான தரவு வகை அல்ல; இது எழுத்துக்களின் வரிசை</a:t>
            </a:r>
          </a:p>
          <a:p>
            <a:r>
              <a:rPr lang="ta-IN" sz="1600" dirty="0"/>
              <a:t>ஒவ்வொரு எழுத்தையும் சதுர அடைப்புக்குறிக்குள் ஒரு குறியீட்டால் குறிப்பிடலாம்</a:t>
            </a:r>
          </a:p>
          <a:p>
            <a:endParaRPr lang="ta-IN" sz="1600" dirty="0"/>
          </a:p>
          <a:p>
            <a:r>
              <a:rPr lang="ta-IN" sz="1600" dirty="0"/>
              <a:t>உங்கள் பணித்தாள் மீது சரங்கள் குறியீட்டு விசாரணை செய்யுங்கள்</a:t>
            </a:r>
            <a:endParaRPr lang="en-GB" sz="1600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9A277275-A723-FDC5-31FD-9BD4129CD47E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1FE5F1B-3545-493A-4061-85338BEB2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40" y="1655165"/>
            <a:ext cx="3029373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4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C36CA8-619C-8633-5ACC-203F9E97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5441"/>
            <a:ext cx="8520600" cy="572700"/>
          </a:xfrm>
        </p:spPr>
        <p:txBody>
          <a:bodyPr/>
          <a:lstStyle/>
          <a:p>
            <a:r>
              <a:rPr lang="ta-IN" dirty="0"/>
              <a:t>செயல்பாடு 3: சரங்கள் விசாரணை 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74A80F-EADD-8678-DD77-663B878EC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800189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3B8CA6CE-59B3-9060-5241-F4693C9981A8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3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A79EA792-28DA-CFC3-B34B-45D08D634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345258"/>
              </p:ext>
            </p:extLst>
          </p:nvPr>
        </p:nvGraphicFramePr>
        <p:xfrm>
          <a:off x="685826" y="2428310"/>
          <a:ext cx="8146474" cy="17024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8992">
                  <a:extLst>
                    <a:ext uri="{9D8B030D-6E8A-4147-A177-3AD203B41FA5}">
                      <a16:colId xmlns:a16="http://schemas.microsoft.com/office/drawing/2014/main" xmlns="" val="1366794579"/>
                    </a:ext>
                  </a:extLst>
                </a:gridCol>
                <a:gridCol w="2576972">
                  <a:extLst>
                    <a:ext uri="{9D8B030D-6E8A-4147-A177-3AD203B41FA5}">
                      <a16:colId xmlns:a16="http://schemas.microsoft.com/office/drawing/2014/main" xmlns="" val="2922258957"/>
                    </a:ext>
                  </a:extLst>
                </a:gridCol>
                <a:gridCol w="3380510">
                  <a:extLst>
                    <a:ext uri="{9D8B030D-6E8A-4147-A177-3AD203B41FA5}">
                      <a16:colId xmlns:a16="http://schemas.microsoft.com/office/drawing/2014/main" xmlns="" val="3380944602"/>
                    </a:ext>
                  </a:extLst>
                </a:gridCol>
              </a:tblGrid>
              <a:tr h="135300">
                <a:tc>
                  <a:txBody>
                    <a:bodyPr/>
                    <a:lstStyle/>
                    <a:p>
                      <a:r>
                        <a:rPr lang="en-GB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Code</a:t>
                      </a:r>
                      <a:endParaRPr lang="en-GB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Output</a:t>
                      </a:r>
                      <a:endParaRPr lang="en-GB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Explanation</a:t>
                      </a:r>
                      <a:endParaRPr lang="en-GB" sz="16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4841526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print(name[1])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a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Index 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references the </a:t>
                      </a:r>
                      <a:r>
                        <a:rPr lang="en-GB" sz="14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second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character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extLst>
                  <a:ext uri="{0D108BD9-81ED-4DB2-BD59-A6C34878D82A}">
                    <a16:rowId xmlns:a16="http://schemas.microsoft.com/office/drawing/2014/main" xmlns="" val="1723790386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print(name[2])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v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Index 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references the </a:t>
                      </a:r>
                      <a:r>
                        <a:rPr lang="en-GB" sz="14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third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character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extLst>
                  <a:ext uri="{0D108BD9-81ED-4DB2-BD59-A6C34878D82A}">
                    <a16:rowId xmlns:a16="http://schemas.microsoft.com/office/drawing/2014/main" xmlns="" val="927844223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print(name[0])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R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Index 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references the </a:t>
                      </a:r>
                      <a:r>
                        <a:rPr lang="en-GB" sz="14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first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character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extLst>
                  <a:ext uri="{0D108BD9-81ED-4DB2-BD59-A6C34878D82A}">
                    <a16:rowId xmlns:a16="http://schemas.microsoft.com/office/drawing/2014/main" xmlns="" val="306127714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print(name[length-1])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GB" sz="1400" kern="1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i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length - 1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references the last index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extLst>
                  <a:ext uri="{0D108BD9-81ED-4DB2-BD59-A6C34878D82A}">
                    <a16:rowId xmlns:a16="http://schemas.microsoft.com/office/drawing/2014/main" xmlns="" val="276291781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print(name[length])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IndexError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string index out of range</a:t>
                      </a:r>
                      <a:endParaRPr lang="en-GB" sz="14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" panose="020B0604020202020204" pitchFamily="34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tc>
                  <a:txBody>
                    <a:bodyPr/>
                    <a:lstStyle/>
                    <a:p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 Indexes start at </a:t>
                      </a:r>
                      <a:r>
                        <a:rPr lang="en-GB" sz="1400" i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GB" sz="14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so there is no character at index </a:t>
                      </a:r>
                      <a:r>
                        <a:rPr lang="en-GB" sz="1400" i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length</a:t>
                      </a:r>
                      <a:endParaRPr lang="en-GB" sz="1400" i="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Inter" panose="020B0604020202020204" charset="0"/>
                      </a:endParaRPr>
                    </a:p>
                  </a:txBody>
                  <a:tcPr marL="30758" marR="30758" marT="0" marB="0"/>
                </a:tc>
                <a:extLst>
                  <a:ext uri="{0D108BD9-81ED-4DB2-BD59-A6C34878D82A}">
                    <a16:rowId xmlns:a16="http://schemas.microsoft.com/office/drawing/2014/main" xmlns="" val="50058241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A3BD6AA-0411-784F-7E5C-74ABC8A75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26" y="1785012"/>
            <a:ext cx="2619741" cy="543001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xmlns="" id="{46037755-097D-5BD8-3303-3317932E973F}"/>
              </a:ext>
            </a:extLst>
          </p:cNvPr>
          <p:cNvSpPr txBox="1">
            <a:spLocks/>
          </p:cNvSpPr>
          <p:nvPr/>
        </p:nvSpPr>
        <p:spPr>
          <a:xfrm>
            <a:off x="311700" y="665707"/>
            <a:ext cx="85206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●"/>
              <a:defRPr sz="2000" b="0" i="0" u="none" strike="noStrike" cap="none">
                <a:solidFill>
                  <a:srgbClr val="626262"/>
                </a:solidFill>
                <a:latin typeface="Inter" panose="020B0604020202020204" charset="0"/>
                <a:ea typeface="Inter" panose="020B0604020202020204" charset="0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●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26262"/>
              </a:buClr>
              <a:buSzPts val="1600"/>
              <a:buFont typeface="Arial"/>
              <a:buChar char="○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626262"/>
              </a:buClr>
              <a:buSzPts val="1600"/>
              <a:buFont typeface="Arial"/>
              <a:buChar char="■"/>
              <a:defRPr sz="1600" b="0" i="0" u="none" strike="noStrike" cap="none">
                <a:solidFill>
                  <a:srgbClr val="62626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ta-IN" sz="1600" dirty="0">
                <a:latin typeface="Arial" panose="020B0604020202020204" pitchFamily="34" charset="0"/>
              </a:rPr>
              <a:t>சதுர அடைப்புக்குறிகளைப் பயன்படுத்தி தனிப்பட்ட எழுத்துக்களைப் பிரித்தெடுக்கலாம்</a:t>
            </a:r>
          </a:p>
          <a:p>
            <a:r>
              <a:rPr lang="ta-IN" sz="1600" dirty="0">
                <a:latin typeface="Arial" panose="020B0604020202020204" pitchFamily="34" charset="0"/>
              </a:rPr>
              <a:t>சதுர அடைப்புக்குறிக்குள் உள்ள எண் ஒரு குறியீடு </a:t>
            </a:r>
            <a:r>
              <a:rPr lang="ta-IN" sz="1600" dirty="0" smtClean="0">
                <a:latin typeface="Arial" panose="020B0604020202020204" pitchFamily="34" charset="0"/>
              </a:rPr>
              <a:t>என்று அழைக்கப்படுகிறது</a:t>
            </a:r>
            <a:endParaRPr lang="en-GB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427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EC34743-40B2-64B2-F303-56EEFF3C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41" y="1681225"/>
            <a:ext cx="7463118" cy="756900"/>
          </a:xfrm>
        </p:spPr>
        <p:txBody>
          <a:bodyPr/>
          <a:lstStyle/>
          <a:p>
            <a:r>
              <a:rPr lang="ta-IN" dirty="0"/>
              <a:t>செயல்பாடு 4: ஒரு சரம் மீது மீண்டும் நிகழ்கிறது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304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886401-6D5A-BD79-D768-42913244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ஒரு சரம் மீது மறுசீரமைத்தல்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CD0036-5706-7D43-839B-A3D5F7111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893069"/>
          </a:xfrm>
        </p:spPr>
        <p:txBody>
          <a:bodyPr/>
          <a:lstStyle/>
          <a:p>
            <a:r>
              <a:rPr lang="ta-IN" sz="1600" dirty="0"/>
              <a:t>இது போன்ற ஒரு சரத்தில் தனிப்பட்ட எழுத்துக்களை நாம் அச்சிடலாம்:</a:t>
            </a:r>
          </a:p>
          <a:p>
            <a:endParaRPr lang="ta-IN" sz="1600" dirty="0"/>
          </a:p>
          <a:p>
            <a:endParaRPr lang="ta-IN" sz="1600" dirty="0"/>
          </a:p>
          <a:p>
            <a:endParaRPr lang="ta-IN" sz="1600" dirty="0"/>
          </a:p>
          <a:p>
            <a:endParaRPr lang="ta-IN" sz="1600" dirty="0"/>
          </a:p>
          <a:p>
            <a:endParaRPr lang="ta-IN" sz="1600" dirty="0"/>
          </a:p>
          <a:p>
            <a:endParaRPr lang="ta-IN" sz="1600" dirty="0"/>
          </a:p>
          <a:p>
            <a:endParaRPr lang="ta-IN" sz="1600" dirty="0"/>
          </a:p>
          <a:p>
            <a:endParaRPr lang="en-IN" sz="1600" dirty="0" smtClean="0"/>
          </a:p>
          <a:p>
            <a:endParaRPr lang="en-IN" sz="1600" dirty="0"/>
          </a:p>
          <a:p>
            <a:r>
              <a:rPr lang="ta-IN" sz="1600" dirty="0" smtClean="0"/>
              <a:t>நாங்கள் </a:t>
            </a:r>
            <a:r>
              <a:rPr lang="ta-IN" sz="1600" dirty="0"/>
              <a:t>நீண்ட பெயரில் நுழைந்தால் என்ன நடக்கும்?</a:t>
            </a:r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D190BB4-7181-483B-FEB9-762723399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76" y="1561764"/>
            <a:ext cx="3286870" cy="1857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227AB7F-A253-CA4C-E6B0-6CDA37C7D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351" y="1561764"/>
            <a:ext cx="1810973" cy="1604004"/>
          </a:xfrm>
          <a:prstGeom prst="rect">
            <a:avLst/>
          </a:prstGeom>
        </p:spPr>
      </p:pic>
      <p:sp>
        <p:nvSpPr>
          <p:cNvPr id="4" name="Google Shape;115;p22">
            <a:extLst>
              <a:ext uri="{FF2B5EF4-FFF2-40B4-BE49-F238E27FC236}">
                <a16:creationId xmlns:a16="http://schemas.microsoft.com/office/drawing/2014/main" xmlns="" id="{F9199291-ABE3-F831-BB75-674F75CDA5B0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8058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D7CFB2-93C8-02E7-F67A-B9EA5E07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ஒரு சரம் மீது மறுசீரமைத்தல்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F247B0-18A0-35F2-00D1-91B74E04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738633"/>
          </a:xfrm>
        </p:spPr>
        <p:txBody>
          <a:bodyPr/>
          <a:lstStyle/>
          <a:p>
            <a:r>
              <a:rPr lang="ta-IN" dirty="0"/>
              <a:t>நாங்கள் எல்லா கடிதங்களையும் அச்சிட்டு வெளியிடவில்லை.</a:t>
            </a:r>
          </a:p>
          <a:p>
            <a:r>
              <a:rPr lang="ta-IN" dirty="0"/>
              <a:t>இதை எப்படி தீர்க்க முடியும்?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CD9DE52-8B70-0D19-3050-6EDCC75CA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066" y="1933615"/>
            <a:ext cx="1810800" cy="1523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26B6468-4C47-1F07-F89A-7390902A5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85" y="1933614"/>
            <a:ext cx="3286870" cy="1857186"/>
          </a:xfrm>
          <a:prstGeom prst="rect">
            <a:avLst/>
          </a:prstGeom>
        </p:spPr>
      </p:pic>
      <p:sp>
        <p:nvSpPr>
          <p:cNvPr id="4" name="Google Shape;115;p22">
            <a:extLst>
              <a:ext uri="{FF2B5EF4-FFF2-40B4-BE49-F238E27FC236}">
                <a16:creationId xmlns:a16="http://schemas.microsoft.com/office/drawing/2014/main" xmlns="" id="{8D094123-23D1-2661-0403-50D2E56A9AC3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7907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AFBB26-BB80-6668-C7CA-45126FF4E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ஒரு சரம் மீது மறுசீரமைத்தல்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5038124-1F29-2521-F21C-412EE4B55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500" y="2961652"/>
            <a:ext cx="8520600" cy="461635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அதற்கு பதிலாக குறியீட்டிற்கு ஒரு மாறியைப் பயன்படுத்தலாம்.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D3B3414-EE16-4680-7560-9D1FB6B69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6" y="1017726"/>
            <a:ext cx="3286870" cy="1857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6BA9133-4E93-183D-DEF4-03EC5079D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661" y="1017725"/>
            <a:ext cx="1810973" cy="1604004"/>
          </a:xfrm>
          <a:prstGeom prst="rect">
            <a:avLst/>
          </a:prstGeom>
        </p:spPr>
      </p:pic>
      <p:sp>
        <p:nvSpPr>
          <p:cNvPr id="6" name="Google Shape;115;p22">
            <a:extLst>
              <a:ext uri="{FF2B5EF4-FFF2-40B4-BE49-F238E27FC236}">
                <a16:creationId xmlns:a16="http://schemas.microsoft.com/office/drawing/2014/main" xmlns="" id="{2EC7C56F-542D-292E-A1FD-5517A96B5239}"/>
              </a:ext>
            </a:extLst>
          </p:cNvPr>
          <p:cNvSpPr/>
          <p:nvPr/>
        </p:nvSpPr>
        <p:spPr>
          <a:xfrm>
            <a:off x="7346175" y="329350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7168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E8FF7F-0AB5-9C90-408B-B930C5D5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sz="1600" dirty="0"/>
              <a:t>ஒரு சரம் மீது மறுசீரமைத்தல்</a:t>
            </a:r>
            <a:endParaRPr lang="en-GB" sz="1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27BA06E-D525-B209-89BD-43C31E0E0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75509"/>
            <a:ext cx="4184100" cy="2893069"/>
          </a:xfrm>
        </p:spPr>
        <p:txBody>
          <a:bodyPr/>
          <a:lstStyle/>
          <a:p>
            <a:r>
              <a:rPr lang="ta-IN" sz="1600" dirty="0"/>
              <a:t>இந்த எண்ணை ஒரு மாறியால் மாற்றி அதை அதிகரிக்கலாம்</a:t>
            </a:r>
          </a:p>
          <a:p>
            <a:r>
              <a:rPr lang="ta-IN" sz="1600" dirty="0"/>
              <a:t>மீண்டும் மீண்டும் வரும் குறியீட்டைக் கவனிக்கவா?</a:t>
            </a:r>
          </a:p>
          <a:p>
            <a:r>
              <a:rPr lang="ta-IN" sz="1600" dirty="0"/>
              <a:t>இதை மீண்டும் செய்ய ஒரு வளையத்தைப் பயன்படுத்தலாம்</a:t>
            </a:r>
          </a:p>
          <a:p>
            <a:endParaRPr lang="ta-IN" sz="1600" dirty="0"/>
          </a:p>
          <a:p>
            <a:r>
              <a:rPr lang="ta-IN" sz="1600" dirty="0"/>
              <a:t>குறியீடு எந்த மதிப்பில் தொடங்க வேண்டும்?</a:t>
            </a:r>
          </a:p>
          <a:p>
            <a:r>
              <a:rPr lang="ta-IN" sz="1600" dirty="0"/>
              <a:t>குறியீடு எந்த மதிப்பில் முடிவடைய வேண்டும்?</a:t>
            </a:r>
            <a:endParaRPr lang="en-GB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E64FC43-B02B-3131-EF46-11D58A63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710" y="375364"/>
            <a:ext cx="4525006" cy="295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FA6C750-C7BB-61EA-AE9C-A6E7EA99F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710" y="740341"/>
            <a:ext cx="2276793" cy="351521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29ECBF5-C292-D0C3-AB5B-225CF0072FD8}"/>
              </a:ext>
            </a:extLst>
          </p:cNvPr>
          <p:cNvSpPr/>
          <p:nvPr/>
        </p:nvSpPr>
        <p:spPr>
          <a:xfrm>
            <a:off x="4495800" y="1098959"/>
            <a:ext cx="2396836" cy="572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19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23ED32-FA8F-D398-850B-D9F8C2B3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ஒரு சரம் மீது மறுசீரமைத்தல்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CCC204C-C932-AAA3-467F-27F0DC6F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73780"/>
            <a:ext cx="8520600" cy="1046410"/>
          </a:xfrm>
        </p:spPr>
        <p:txBody>
          <a:bodyPr/>
          <a:lstStyle/>
          <a:p>
            <a:r>
              <a:rPr lang="ta-IN" sz="1400" dirty="0"/>
              <a:t>குறியீடு 0 இல் தொடங்கி நீளம் - 1 இல் முடிவடைய வேண்டும்.</a:t>
            </a:r>
          </a:p>
          <a:p>
            <a:endParaRPr lang="ta-IN" sz="1400" dirty="0"/>
          </a:p>
          <a:p>
            <a:r>
              <a:rPr lang="ta-IN" sz="1400" dirty="0"/>
              <a:t>உங்கள் பணித்தாளில் உள்ள இடைவெளிகளை நிரப்புவதன் மூலம் பயிற்சி 1 ஐ முடிக்கவும்.</a:t>
            </a:r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E97299D-0298-D43B-60C5-B94A96082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21" y="1952664"/>
            <a:ext cx="5020376" cy="220058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E50CD2B9-9646-CDB8-EC66-BDF208536F52}"/>
              </a:ext>
            </a:extLst>
          </p:cNvPr>
          <p:cNvSpPr/>
          <p:nvPr/>
        </p:nvSpPr>
        <p:spPr>
          <a:xfrm>
            <a:off x="3228110" y="3616036"/>
            <a:ext cx="374072" cy="20089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24C9AD2-2B95-DFDF-3F23-01A23C84B0E0}"/>
              </a:ext>
            </a:extLst>
          </p:cNvPr>
          <p:cNvSpPr/>
          <p:nvPr/>
        </p:nvSpPr>
        <p:spPr>
          <a:xfrm>
            <a:off x="2334492" y="2973290"/>
            <a:ext cx="374072" cy="20089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FA9B79D3-0398-FBD1-4D75-EF0CC556DDCB}"/>
              </a:ext>
            </a:extLst>
          </p:cNvPr>
          <p:cNvSpPr/>
          <p:nvPr/>
        </p:nvSpPr>
        <p:spPr>
          <a:xfrm>
            <a:off x="3041074" y="3286644"/>
            <a:ext cx="374072" cy="20089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0286AEB-B64B-3A68-3BA0-33D7091DC5DF}"/>
              </a:ext>
            </a:extLst>
          </p:cNvPr>
          <p:cNvSpPr/>
          <p:nvPr/>
        </p:nvSpPr>
        <p:spPr>
          <a:xfrm>
            <a:off x="1856510" y="3890579"/>
            <a:ext cx="374072" cy="200891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Google Shape;120;p22">
            <a:extLst>
              <a:ext uri="{FF2B5EF4-FFF2-40B4-BE49-F238E27FC236}">
                <a16:creationId xmlns:a16="http://schemas.microsoft.com/office/drawing/2014/main" xmlns="" id="{C91D8178-23F5-7EAE-3E6C-10E37042F0FA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4495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9789FB-3463-A3C4-DB5A-1B0939E2C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 1 க்கு பதில்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04224A6-0252-3CA8-4756-C80892EA0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2954625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தேவைப்பட்டால் உங்கள் பதிலைத் திருத்தவும்</a:t>
            </a:r>
          </a:p>
          <a:p>
            <a:pPr marL="127000" indent="0">
              <a:buNone/>
            </a:pPr>
            <a:endParaRPr lang="ta-IN" dirty="0"/>
          </a:p>
          <a:p>
            <a:pPr marL="127000" indent="0">
              <a:buNone/>
            </a:pPr>
            <a:endParaRPr lang="en-IN" dirty="0" smtClean="0"/>
          </a:p>
          <a:p>
            <a:pPr marL="127000" indent="0">
              <a:buNone/>
            </a:pPr>
            <a:endParaRPr lang="en-IN" dirty="0"/>
          </a:p>
          <a:p>
            <a:pPr marL="127000" indent="0">
              <a:buNone/>
            </a:pPr>
            <a:endParaRPr lang="en-IN" dirty="0" smtClean="0"/>
          </a:p>
          <a:p>
            <a:pPr marL="127000" indent="0">
              <a:buNone/>
            </a:pPr>
            <a:endParaRPr lang="en-IN" dirty="0"/>
          </a:p>
          <a:p>
            <a:pPr marL="127000" indent="0">
              <a:buNone/>
            </a:pPr>
            <a:endParaRPr lang="en-IN" dirty="0" smtClean="0"/>
          </a:p>
          <a:p>
            <a:pPr marL="127000" indent="0">
              <a:buNone/>
            </a:pPr>
            <a:endParaRPr lang="en-IN" dirty="0"/>
          </a:p>
          <a:p>
            <a:pPr marL="127000" indent="0">
              <a:buNone/>
            </a:pPr>
            <a:endParaRPr lang="en-IN" dirty="0" smtClean="0"/>
          </a:p>
          <a:p>
            <a:pPr marL="127000" indent="0">
              <a:buNone/>
            </a:pPr>
            <a:r>
              <a:rPr lang="ta-IN" dirty="0" smtClean="0"/>
              <a:t>பயிற்சிகள் </a:t>
            </a:r>
            <a:r>
              <a:rPr lang="ta-IN" dirty="0"/>
              <a:t>2 - 4 ஐ முடிக்கவும்.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59DC7EB6-CF55-20C3-588A-5A3D2E9B3FF6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6BD55B7-172F-A05C-8F53-8B6BF83E3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72" y="1671013"/>
            <a:ext cx="4081820" cy="1801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F96743D-D7F2-98F3-79EA-0E0E054C6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610" y="1644887"/>
            <a:ext cx="1810800" cy="25133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7293645D-6BFE-29B6-8454-0B049C8F7400}"/>
              </a:ext>
            </a:extLst>
          </p:cNvPr>
          <p:cNvSpPr/>
          <p:nvPr/>
        </p:nvSpPr>
        <p:spPr>
          <a:xfrm>
            <a:off x="1963816" y="2440371"/>
            <a:ext cx="287548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778A5FB8-31C1-520E-9236-5A6033E9A0AC}"/>
              </a:ext>
            </a:extLst>
          </p:cNvPr>
          <p:cNvSpPr/>
          <p:nvPr/>
        </p:nvSpPr>
        <p:spPr>
          <a:xfrm>
            <a:off x="2618414" y="2703128"/>
            <a:ext cx="637403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547302C-EEF3-9CC0-9D3D-4315A328842A}"/>
              </a:ext>
            </a:extLst>
          </p:cNvPr>
          <p:cNvSpPr/>
          <p:nvPr/>
        </p:nvSpPr>
        <p:spPr>
          <a:xfrm>
            <a:off x="2632180" y="2965885"/>
            <a:ext cx="720620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0A88F3B-479F-ECC5-ADEE-63D1ADA7772E}"/>
              </a:ext>
            </a:extLst>
          </p:cNvPr>
          <p:cNvSpPr/>
          <p:nvPr/>
        </p:nvSpPr>
        <p:spPr>
          <a:xfrm>
            <a:off x="1614056" y="3196274"/>
            <a:ext cx="1787236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5988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C23007-BE00-6EF8-CA26-0A77BB19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2568B7-8161-ADBE-9889-21200A8A1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ta-IN" dirty="0"/>
              <a:t>தேவைப்பட்டால் உங்கள் பதிலைத் திருத்தவும்.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14B82483-AD60-6043-7D98-D3490CB0422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4B10CA7-5865-C52D-587E-8DCB14472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75" y="1644888"/>
            <a:ext cx="5224480" cy="1571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BF9B63C-EA47-0ECF-FF65-038624450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686" y="1644887"/>
            <a:ext cx="2617614" cy="116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27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C23007-BE00-6EF8-CA26-0A77BB19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2568B7-8161-ADBE-9889-21200A8A1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ta-IN" dirty="0"/>
              <a:t>தேவைப்பட்டால் உங்கள் பதிலைத் திருத்தவும்.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14B82483-AD60-6043-7D98-D3490CB0422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BA46AE8-3E45-8D7E-37BE-D98A1552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16" y="1644887"/>
            <a:ext cx="3745907" cy="208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1A5BA83-D8C6-9964-E1E7-7A83D0B6C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688" y="1644887"/>
            <a:ext cx="1788276" cy="12354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9E07DDB-43B8-47D2-AB5A-9176C62C2E38}"/>
              </a:ext>
            </a:extLst>
          </p:cNvPr>
          <p:cNvSpPr/>
          <p:nvPr/>
        </p:nvSpPr>
        <p:spPr>
          <a:xfrm>
            <a:off x="2787469" y="3471043"/>
            <a:ext cx="433713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89878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C23007-BE00-6EF8-CA26-0A77BB19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2568B7-8161-ADBE-9889-21200A8A1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ta-IN" dirty="0"/>
              <a:t>தேவைப்பட்டால் உங்கள் பதிலைத் திருத்தவும்.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14B82483-AD60-6043-7D98-D3490CB0422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4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9193E34-2613-B804-3ABF-1719E1DF2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14" y="1644887"/>
            <a:ext cx="3792049" cy="2080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27719FF-111C-0A47-13EC-38574CB2B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136" y="1644887"/>
            <a:ext cx="1612619" cy="13684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571FDF9-E7B8-1BBF-CCBA-F3F0413EA52B}"/>
              </a:ext>
            </a:extLst>
          </p:cNvPr>
          <p:cNvSpPr/>
          <p:nvPr/>
        </p:nvSpPr>
        <p:spPr>
          <a:xfrm>
            <a:off x="1710942" y="2680469"/>
            <a:ext cx="1122313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04C5E12-F108-5AD8-B2A6-E821038AD19D}"/>
              </a:ext>
            </a:extLst>
          </p:cNvPr>
          <p:cNvSpPr/>
          <p:nvPr/>
        </p:nvSpPr>
        <p:spPr>
          <a:xfrm>
            <a:off x="2057307" y="2943226"/>
            <a:ext cx="637403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56BF712-6547-A166-C8F2-ED9D9B16F8CC}"/>
              </a:ext>
            </a:extLst>
          </p:cNvPr>
          <p:cNvSpPr/>
          <p:nvPr/>
        </p:nvSpPr>
        <p:spPr>
          <a:xfrm>
            <a:off x="2694710" y="3409710"/>
            <a:ext cx="637403" cy="262757"/>
          </a:xfrm>
          <a:prstGeom prst="rect">
            <a:avLst/>
          </a:prstGeom>
          <a:solidFill>
            <a:srgbClr val="FFFF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5809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0411926-20CE-9353-C217-1A725861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செயல்பாடு 5: ஒரு சுழற்சியில் தேர்வு செய்தல்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0229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254FC3-FFD3-8199-A5A6-81E59987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பயிற்சிகள்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03334D2-C494-84D4-5709-7A484C755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ta-IN" dirty="0"/>
              <a:t>செயல்பாடு 5 பயிற்சிகளைச் செய்யுங்கள்.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C031A4A7-853B-995E-BC65-50D09DC5D1DB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2277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78DF0-D1E3-3D71-7270-4E9214B5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 – பயிற்சி 1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BC3D61-EC7E-DE9E-011B-EF88889C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தேவைப்பட்டால் உங்கள் பதிலைத் திருத்தவும்.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55965431-7A50-64EA-753E-14C4E6A194F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C5F1923-41FF-BD4F-423B-F3946D1C9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049" y="1580711"/>
            <a:ext cx="2951836" cy="562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E03503-6090-3674-D93A-92BC02F74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57" y="1580711"/>
            <a:ext cx="4738351" cy="259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184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78DF0-D1E3-3D71-7270-4E9214B5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 – பயிற்சி 1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BC3D61-EC7E-DE9E-011B-EF88889C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461635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இந்த குறியீட்டை மேம்படுத்த முடியுமா?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55965431-7A50-64EA-753E-14C4E6A194F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F5E794-BA73-915B-C2C2-48165737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049" y="1580711"/>
            <a:ext cx="2951836" cy="562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A6E4615-8614-D4A1-E9AA-9C5817C60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57" y="1580711"/>
            <a:ext cx="4738351" cy="259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29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78DF0-D1E3-3D71-7270-4E9214B5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 – பயிற்சி 1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BC3D61-EC7E-DE9E-011B-EF88889C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814481" cy="2554515"/>
          </a:xfrm>
        </p:spPr>
        <p:txBody>
          <a:bodyPr/>
          <a:lstStyle/>
          <a:p>
            <a:r>
              <a:rPr lang="ta-IN" sz="1400" dirty="0"/>
              <a:t>வரி 2 இல் உயிரெழுத்துக்களின் சரத்தை உருவாக்கியுள்ளோம்</a:t>
            </a:r>
          </a:p>
          <a:p>
            <a:r>
              <a:rPr lang="en-GB" sz="1400" dirty="0" err="1"/>
              <a:t>v_index</a:t>
            </a:r>
            <a:r>
              <a:rPr lang="en-GB" sz="1400" dirty="0"/>
              <a:t> </a:t>
            </a:r>
            <a:r>
              <a:rPr lang="ta-IN" sz="1400" dirty="0"/>
              <a:t>என்பது உயிரெழுத்துக் சரத்திற்கான குறியீட்டாகும்</a:t>
            </a:r>
          </a:p>
          <a:p>
            <a:r>
              <a:rPr lang="ta-IN" sz="1400" dirty="0"/>
              <a:t>வெளிப்புற வளையம் சொற்றொடரின் மேல் மீண்டும் மீண்டும் வருகிறது</a:t>
            </a:r>
          </a:p>
          <a:p>
            <a:r>
              <a:rPr lang="ta-IN" sz="1400" dirty="0"/>
              <a:t>உள் வளையம் உயிரெழுத்து சரத்தின் மேல் மீண்டும் மீண்டும் வருகிறது</a:t>
            </a:r>
          </a:p>
          <a:p>
            <a:r>
              <a:rPr lang="ta-IN" sz="1400" dirty="0"/>
              <a:t>நிரல் சொற்றொடரிலிருந்து ஒரு நேரத்தில் ஒரு எழுத்தை எடுத்து, அதை ஒவ்வொரு உயிரெழுத்துக்களுடனும் ஒப்பிடுகிறது.</a:t>
            </a:r>
            <a:endParaRPr lang="en-GB" sz="1400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55965431-7A50-64EA-753E-14C4E6A194F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6B42FA0-5CA8-B58E-4AD0-093895F51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308" y="1152475"/>
            <a:ext cx="3753723" cy="30516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B1FAE96-A5E5-79EF-7724-39BB8D18E651}"/>
              </a:ext>
            </a:extLst>
          </p:cNvPr>
          <p:cNvSpPr/>
          <p:nvPr/>
        </p:nvSpPr>
        <p:spPr>
          <a:xfrm>
            <a:off x="5458691" y="2320636"/>
            <a:ext cx="2888673" cy="153092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7574A39-433A-9CF7-1EE2-C2C62090A126}"/>
              </a:ext>
            </a:extLst>
          </p:cNvPr>
          <p:cNvSpPr/>
          <p:nvPr/>
        </p:nvSpPr>
        <p:spPr>
          <a:xfrm>
            <a:off x="5763491" y="2881745"/>
            <a:ext cx="2500745" cy="7758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32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78DF0-D1E3-3D71-7270-4E9214B5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 – பயிற்சி 1 (நீட்டிப்பு)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BC3D61-EC7E-DE9E-011B-EF88889C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502755" cy="1292631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நீங்கள் செய்ய வேண்டியதெல்லாம், 8வது வரியில் எழுத்தை சிறிய எழுத்தாக மாற்றுவதுதான்.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55965431-7A50-64EA-753E-14C4E6A194F3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A4FFF44-8A5D-BA0F-26F5-2DEC6ACD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679" y="1017725"/>
            <a:ext cx="4020429" cy="31995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5157CE8-0888-06F7-E52B-FC8971070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047" y="3483654"/>
            <a:ext cx="2978135" cy="73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302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52DF8D-0910-53DE-A505-C4672457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dirty="0"/>
              <a:t>பதில்கள் – பயிற்சி 2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F5B2D40-16A3-EF89-1BB0-E77E66D70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068809" cy="1015632"/>
          </a:xfrm>
        </p:spPr>
        <p:txBody>
          <a:bodyPr/>
          <a:lstStyle/>
          <a:p>
            <a:pPr marL="127000" indent="0">
              <a:buNone/>
            </a:pPr>
            <a:r>
              <a:rPr lang="ta-IN" dirty="0"/>
              <a:t>தேவைப்பட்டால் உங்கள் பதிலைத் திருத்தவும்.</a:t>
            </a:r>
            <a:endParaRPr lang="en-GB" dirty="0"/>
          </a:p>
        </p:txBody>
      </p:sp>
      <p:sp>
        <p:nvSpPr>
          <p:cNvPr id="4" name="Google Shape;120;p22">
            <a:extLst>
              <a:ext uri="{FF2B5EF4-FFF2-40B4-BE49-F238E27FC236}">
                <a16:creationId xmlns:a16="http://schemas.microsoft.com/office/drawing/2014/main" xmlns="" id="{F63DC3CB-7ADB-0ED2-A791-884AC37456CD}"/>
              </a:ext>
            </a:extLst>
          </p:cNvPr>
          <p:cNvSpPr/>
          <p:nvPr/>
        </p:nvSpPr>
        <p:spPr>
          <a:xfrm>
            <a:off x="7578900" y="237275"/>
            <a:ext cx="1253400" cy="415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Inter" panose="020B0604020202020204" charset="0"/>
                <a:sym typeface="Arial"/>
              </a:rPr>
              <a:t>Activity 5</a:t>
            </a:r>
            <a:endParaRPr sz="1600" b="1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Inter" panose="020B060402020202020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6CAA6F6-C8F2-89ED-2022-79C34AA7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963" y="1017725"/>
            <a:ext cx="5372234" cy="3167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FD28582-8F77-06BD-8705-CF8DFEF7E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80" y="2522355"/>
            <a:ext cx="1817155" cy="78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ABD796D-442E-88C5-72B1-4F41F1BC2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380" y="3405298"/>
            <a:ext cx="3161894" cy="78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0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/>
        </p:nvSpPr>
        <p:spPr>
          <a:xfrm>
            <a:off x="311700" y="2694710"/>
            <a:ext cx="5334027" cy="138222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7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535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rgbClr val="53585F"/>
              </a:solidFill>
            </a:endParaRPr>
          </a:p>
        </p:txBody>
      </p:sp>
      <p:sp>
        <p:nvSpPr>
          <p:cNvPr id="271" name="Google Shape;27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59850" tIns="59850" rIns="59850" bIns="59850" anchor="t" anchorCtr="0">
            <a:noAutofit/>
          </a:bodyPr>
          <a:lstStyle/>
          <a:p>
            <a:pPr lvl="0"/>
            <a:r>
              <a:rPr lang="ta-IN" dirty="0"/>
              <a:t>நிறைவு விழா</a:t>
            </a:r>
            <a:endParaRPr dirty="0"/>
          </a:p>
        </p:txBody>
      </p:sp>
      <p:sp>
        <p:nvSpPr>
          <p:cNvPr id="272" name="Google Shape;272;p42"/>
          <p:cNvSpPr txBox="1">
            <a:spLocks noGrp="1"/>
          </p:cNvSpPr>
          <p:nvPr>
            <p:ph type="body" idx="1"/>
          </p:nvPr>
        </p:nvSpPr>
        <p:spPr>
          <a:xfrm>
            <a:off x="311700" y="1173600"/>
            <a:ext cx="8520600" cy="26776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>
              <a:buNone/>
            </a:pPr>
            <a:r>
              <a:rPr lang="ta-IN" dirty="0"/>
              <a:t>நாம் கற்றுக்கொண்டது:</a:t>
            </a:r>
          </a:p>
          <a:p>
            <a:pPr marL="0" lvl="0" indent="0">
              <a:buNone/>
            </a:pPr>
            <a:r>
              <a:rPr lang="ta-IN" dirty="0"/>
              <a:t>ஒரு சரத்தில் உள்ள தனிப்பட்ட எழுத்துக்களை அணுகுதல்</a:t>
            </a:r>
          </a:p>
          <a:p>
            <a:pPr marL="0" lvl="0" indent="0">
              <a:buNone/>
            </a:pPr>
            <a:r>
              <a:rPr lang="ta-IN" dirty="0"/>
              <a:t>ஒரு சரத்தின் மீது மீண்டும் கூறுதல்</a:t>
            </a:r>
          </a:p>
          <a:p>
            <a:pPr marL="0" lvl="0" indent="0">
              <a:buNone/>
            </a:pPr>
            <a:r>
              <a:rPr lang="ta-IN" dirty="0"/>
              <a:t>ஒரு சரத்தில் உள்ள எழுத்துக்களைக் கண்டறிதல்</a:t>
            </a:r>
          </a:p>
          <a:p>
            <a:pPr marL="0" lvl="0" indent="0">
              <a:buNone/>
            </a:pPr>
            <a:endParaRPr lang="en-IN" dirty="0" smtClean="0"/>
          </a:p>
          <a:p>
            <a:pPr marL="0" lvl="0" indent="0">
              <a:buNone/>
            </a:pPr>
            <a:endParaRPr lang="ta-IN" dirty="0"/>
          </a:p>
          <a:p>
            <a:pPr marL="0" lvl="0" indent="0">
              <a:buNone/>
            </a:pPr>
            <a:r>
              <a:rPr lang="ta-IN" dirty="0"/>
              <a:t>ஜோடிகளாக விவாதிக்கவும்:</a:t>
            </a:r>
          </a:p>
          <a:p>
            <a:pPr marL="0" lvl="0" indent="0">
              <a:buNone/>
            </a:pPr>
            <a:r>
              <a:rPr lang="ta-IN" dirty="0"/>
              <a:t>இந்த நிரலில் </a:t>
            </a:r>
            <a:r>
              <a:rPr lang="en-GB" dirty="0" err="1"/>
              <a:t>v_index</a:t>
            </a:r>
            <a:r>
              <a:rPr lang="en-GB" dirty="0"/>
              <a:t> </a:t>
            </a:r>
            <a:r>
              <a:rPr lang="ta-IN" dirty="0"/>
              <a:t>லூப்பிற்கு முன் </a:t>
            </a:r>
            <a:r>
              <a:rPr lang="en-GB" dirty="0" err="1"/>
              <a:t>v_index</a:t>
            </a:r>
            <a:r>
              <a:rPr lang="en-GB" dirty="0"/>
              <a:t> </a:t>
            </a:r>
            <a:r>
              <a:rPr lang="ta-IN" dirty="0"/>
              <a:t>ஐ 0 ஆக மீட்டமைப்பது ஏன்?</a:t>
            </a:r>
            <a:endParaRPr dirty="0"/>
          </a:p>
        </p:txBody>
      </p:sp>
      <p:sp>
        <p:nvSpPr>
          <p:cNvPr id="275" name="Google Shape;275;p42"/>
          <p:cNvSpPr/>
          <p:nvPr/>
        </p:nvSpPr>
        <p:spPr>
          <a:xfrm rot="-909444">
            <a:off x="4257746" y="2239765"/>
            <a:ext cx="1404408" cy="770999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FFFFFF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EXIT TICKET</a:t>
            </a:r>
            <a:endParaRPr sz="1700" b="1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Inter"/>
              <a:cs typeface="Arial" panose="020B0604020202020204" pitchFamily="34" charset="0"/>
              <a:sym typeface="Inter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6065AAA-9EB7-B649-2550-2E66FCDDD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637" y="910020"/>
            <a:ext cx="3209256" cy="26090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7C00A72-4407-3018-CA1A-DDDDE34FCCFF}"/>
              </a:ext>
            </a:extLst>
          </p:cNvPr>
          <p:cNvSpPr/>
          <p:nvPr/>
        </p:nvSpPr>
        <p:spPr>
          <a:xfrm>
            <a:off x="6227618" y="2214537"/>
            <a:ext cx="921327" cy="175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Ocado New Branding">
      <a:dk1>
        <a:srgbClr val="000000"/>
      </a:dk1>
      <a:lt1>
        <a:srgbClr val="FFFFFF"/>
      </a:lt1>
      <a:dk2>
        <a:srgbClr val="626262"/>
      </a:dk2>
      <a:lt2>
        <a:srgbClr val="DCDEE0"/>
      </a:lt2>
      <a:accent1>
        <a:srgbClr val="D841C3"/>
      </a:accent1>
      <a:accent2>
        <a:srgbClr val="13237A"/>
      </a:accent2>
      <a:accent3>
        <a:srgbClr val="FFCE05"/>
      </a:accent3>
      <a:accent4>
        <a:srgbClr val="2633AB"/>
      </a:accent4>
      <a:accent5>
        <a:srgbClr val="F4D1DC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694</Words>
  <Application>Microsoft Office PowerPoint</Application>
  <PresentationFormat>On-screen Show (16:9)</PresentationFormat>
  <Paragraphs>193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Helvetica Neue</vt:lpstr>
      <vt:lpstr>Consolas</vt:lpstr>
      <vt:lpstr>Source Sans Pro</vt:lpstr>
      <vt:lpstr>Inter</vt:lpstr>
      <vt:lpstr>Space Grotesk Medium</vt:lpstr>
      <vt:lpstr>Wingdings</vt:lpstr>
      <vt:lpstr>White</vt:lpstr>
      <vt:lpstr>PowerPoint Presentation</vt:lpstr>
      <vt:lpstr>பாடம் தொடங்குபவர்</vt:lpstr>
      <vt:lpstr>பாடம் தொடக்கம் - பதில்கள்</vt:lpstr>
      <vt:lpstr>செயல்பாடு 1: சர செயல்பாடுகள்</vt:lpstr>
      <vt:lpstr>சரம் செயல்பாடுகள்</vt:lpstr>
      <vt:lpstr>சரம் செயல்பாடுகள்</vt:lpstr>
      <vt:lpstr>சரம் செயல்பாடுகள்</vt:lpstr>
      <vt:lpstr>பயிற்சிகள்</vt:lpstr>
      <vt:lpstr>செயல்பாடு 1 - பதில்கள்</vt:lpstr>
      <vt:lpstr>செயல்பாடு 1 - பதில்கள்</vt:lpstr>
      <vt:lpstr>செயல்பாடு 1 - பதில்கள்</vt:lpstr>
      <vt:lpstr>செயல்பாடு 2: சரம் வடிவமைப்பு</vt:lpstr>
      <vt:lpstr> சரம் வடிவமைப்பு</vt:lpstr>
      <vt:lpstr> சரம் வடிவமைப்பு</vt:lpstr>
      <vt:lpstr> சரம் வடிவமைப்பு</vt:lpstr>
      <vt:lpstr>பதில்கள்</vt:lpstr>
      <vt:lpstr>செயல்பாடு 3: எழுத்துக்களின் வரிசைகள்</vt:lpstr>
      <vt:lpstr>சரங்கள்: எழுத்துக்களின் வரிசைகள்</vt:lpstr>
      <vt:lpstr>செயல்பாடு 3: சரங்கள் விசாரணை பதில்கள்</vt:lpstr>
      <vt:lpstr>செயல்பாடு 4: ஒரு சரம் மீது மீண்டும் நிகழ்கிறது</vt:lpstr>
      <vt:lpstr>ஒரு சரம் மீது மறுசீரமைத்தல்</vt:lpstr>
      <vt:lpstr>ஒரு சரம் மீது மறுசீரமைத்தல்</vt:lpstr>
      <vt:lpstr>ஒரு சரம் மீது மறுசீரமைத்தல்</vt:lpstr>
      <vt:lpstr>ஒரு சரம் மீது மறுசீரமைத்தல்</vt:lpstr>
      <vt:lpstr>ஒரு சரம் மீது மறுசீரமைத்தல்</vt:lpstr>
      <vt:lpstr>பயிற்சி 1 க்கு பதில்</vt:lpstr>
      <vt:lpstr>பதில்கள்</vt:lpstr>
      <vt:lpstr>பதில்கள்</vt:lpstr>
      <vt:lpstr>பதில்கள்</vt:lpstr>
      <vt:lpstr>செயல்பாடு 5: ஒரு சுழற்சியில் தேர்வு செய்தல்</vt:lpstr>
      <vt:lpstr>பயிற்சிகள்</vt:lpstr>
      <vt:lpstr>பதில்கள் – பயிற்சி 1</vt:lpstr>
      <vt:lpstr>பதில்கள் – பயிற்சி 1</vt:lpstr>
      <vt:lpstr>பதில்கள் – பயிற்சி 1</vt:lpstr>
      <vt:lpstr>பதில்கள் – பயிற்சி 1 (நீட்டிப்பு)</vt:lpstr>
      <vt:lpstr>பதில்கள் – பயிற்சி 2</vt:lpstr>
      <vt:lpstr>நிறைவு விழா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Rebecca D</dc:creator>
  <cp:lastModifiedBy>naveen neeyan</cp:lastModifiedBy>
  <cp:revision>34</cp:revision>
  <cp:lastPrinted>2024-06-23T09:10:58Z</cp:lastPrinted>
  <dcterms:modified xsi:type="dcterms:W3CDTF">2025-06-26T04:38:13Z</dcterms:modified>
</cp:coreProperties>
</file>